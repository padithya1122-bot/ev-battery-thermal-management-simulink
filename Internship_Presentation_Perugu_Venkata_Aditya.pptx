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3fb3a15-3051-0078-28c4-f7a9aac67385}">
          <p14:sldIdLst>
            <p14:sldId id="256"/>
            <p14:sldId id="257"/>
          </p14:sldIdLst>
        </p14:section>
        <p14:section name="Part I" id="{a02dd181-17da-97d9-1fac-cbfa8cec8232}">
          <p14:sldIdLst>
            <p14:sldId id="258"/>
            <p14:sldId id="259"/>
            <p14:sldId id="260"/>
            <p14:sldId id="261"/>
          </p14:sldIdLst>
        </p14:section>
        <p14:section name="Part II" id="{acf7d0a1-ac27-2191-af8b-ad8d41b1d7cb}">
          <p14:sldIdLst>
            <p14:sldId id="262"/>
            <p14:sldId id="263"/>
          </p14:sldIdLst>
        </p14:section>
        <p14:section name="My project" id="{dc9d60d4-1ca5-1f72-d80f-fd367856f288}">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name, Mechanical Engineering (Digital Manufacturing). Say this report has two parts done at NoonRay Energy: (I) battery temperature with conduction vs convection, (II) a closed-loop R-1234yf refrigeration cycle in Simulink. The picture is the P-H diagram that validated the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left to right: battery makes heat, the cold plate takes it by conduction, the evaporator absorbs it into the refrigerant, the compressor raises the pressure, the condenser rejects the heat, and a pressure drop closes the loop. The orange block is the compressor, and my project is a scroll compressor.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blocks: heat flow source (1 kW), battery thermal mass, convection or conduction block, temperature source (ambient or cold plate), temperature sensor, solver. The only difference between the two models is the cold plate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battery, same 1 kW. Only the convective coefficient changes. Low h: temperature keeps climbing almost linearly. High h: the curve flattens quickly at a lower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all three cases the battery falls rapidly and stabilises close to the cold plate temperature of 293.15 K. Thinner conductive layer means lower thermal resistance, so a faster initial drop and a tiny reduction in the final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big numbers. Convection alone leaves the battery at 315 to 320 K. The cold plate brings it to about 293 K. That is why cold-plate cooling is the basis for battery thermal management and leads into Part II, where the heat is carried away by a refrigerant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 refrigerant loop built from evaporator, positive displacement compressor and two condenser passes with manifolds. The refrigerant property block gives R-1234yf behaviour. The cold plate and heat load drive the evaporator. The p-h sensors read the state points and the P-H generator plots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loop: evaporation to the right, compression upward, condensation to the left at nearly constant pressure, then the pressure drop back. The refrigerant leaves the evaporator superheated and the condenser outlet is sub-cooled liquid. No expansion valve is modelled, pressure drop in the manifolds and pipes acts as throttling. Future work: add an expansion valve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two pieces of work. In the simulation the compressor is a positive displacement block. In my project I designed the scroll compressor, with a fixed scroll and an orbiting scroll, which is the physical component doing that pressure and enthalpy 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these three messages,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5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51560"/>
            <a:ext cx="4846320" cy="1920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943600" cy="228600"/>
          </a:xfrm>
          <a:prstGeom prst="rect">
            <a:avLst/>
          </a:prstGeom>
          <a:noFill/>
          <a:ln/>
        </p:spPr>
        <p:txBody>
          <a:bodyPr wrap="square" lIns="0" tIns="0" rIns="0" bIns="0" rtlCol="0" anchor="ctr"/>
          <a:lstStyle/>
          <a:p>
            <a:pPr indent="0" marL="0">
              <a:buNone/>
            </a:pPr>
            <a:r>
              <a:rPr lang="en-US" sz="900" dirty="0">
                <a:solidFill>
                  <a:srgbClr val="5B6770"/>
                </a:solidFill>
              </a:rPr>
              <a:t>Perugu Venkata Aditya  |  Mechanical Engineering (Digital Manufacturing)</a:t>
            </a:r>
            <a:endParaRPr lang="en-US" sz="900" dirty="0"/>
          </a:p>
        </p:txBody>
      </p:sp>
      <p:sp>
        <p:nvSpPr>
          <p:cNvPr id="3" name="Text 1"/>
          <p:cNvSpPr/>
          <p:nvPr>
            <p:ph idx="101" type="title" hasCustomPrompt="1"/>
          </p:nvPr>
        </p:nvSpPr>
        <p:spPr>
          <a:xfrm>
            <a:off x="457200" y="274320"/>
            <a:ext cx="8229600" cy="6400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B3C5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4572000" cy="274320"/>
          </a:xfrm>
          <a:prstGeom prst="rect">
            <a:avLst/>
          </a:prstGeom>
          <a:noFill/>
          <a:ln/>
        </p:spPr>
        <p:txBody>
          <a:bodyPr wrap="square" lIns="0" tIns="0" rIns="0" bIns="0" rtlCol="0" anchor="ctr"/>
          <a:lstStyle/>
          <a:p>
            <a:pPr indent="0" marL="0">
              <a:buNone/>
            </a:pPr>
            <a:r>
              <a:rPr lang="en-US" sz="1200" b="1" spc="400" kern="0" dirty="0">
                <a:solidFill>
                  <a:schemeClr val="accent4"/>
                </a:solidFill>
                <a:latin typeface="Calibri" pitchFamily="34" charset="0"/>
                <a:ea typeface="Calibri" pitchFamily="34" charset="-122"/>
                <a:cs typeface="Calibri" pitchFamily="34" charset="-120"/>
              </a:rPr>
              <a:t>INTERNSHIP REPORT</a:t>
            </a:r>
            <a:endParaRPr lang="en-US" sz="1200" dirty="0"/>
          </a:p>
        </p:txBody>
      </p:sp>
      <p:sp>
        <p:nvSpPr>
          <p:cNvPr id="3" name="Text 0"/>
          <p:cNvSpPr/>
          <p:nvPr>
            <p:ph idx="100" type="title" hasCustomPrompt="1"/>
          </p:nvPr>
        </p:nvSpPr>
        <p:spPr>
          <a:xfrm>
            <a:off x="548640" y="1051560"/>
            <a:ext cx="4846320" cy="1920240"/>
          </a:xfrm>
          <a:prstGeom prst="rect">
            <a:avLst/>
          </a:prstGeom>
          <a:noFill/>
          <a:ln/>
        </p:spPr>
        <p:txBody>
          <a:bodyPr wrap="square" lIns="0" tIns="0" rIns="0" bIns="0" rtlCol="0" anchor="t"/>
          <a:lstStyle/>
          <a:p>
            <a:pPr algn="l" indent="0" marL="0">
              <a:buNone/>
            </a:pPr>
            <a:r>
              <a:rPr lang="en-US" sz="3200" b="1" dirty="0">
                <a:solidFill>
                  <a:schemeClr val="bg1"/>
                </a:solidFill>
              </a:rPr>
              <a:t>Thermal Management &amp; Refrigeration Cycle Modelling</a:t>
            </a:r>
            <a:endParaRPr lang="en-US" sz="3200" dirty="0"/>
          </a:p>
        </p:txBody>
      </p:sp>
      <p:sp>
        <p:nvSpPr>
          <p:cNvPr id="4" name="Text 2"/>
          <p:cNvSpPr txBox="1"/>
          <p:nvPr/>
        </p:nvSpPr>
        <p:spPr>
          <a:xfrm>
            <a:off x="548640" y="2880360"/>
            <a:ext cx="4846320" cy="27432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MATLAB / Simulink (Simscape)</a:t>
            </a:r>
            <a:endParaRPr lang="en-US" sz="1400" dirty="0"/>
          </a:p>
        </p:txBody>
      </p:sp>
      <p:sp>
        <p:nvSpPr>
          <p:cNvPr id="5" name="Text 3"/>
          <p:cNvSpPr txBox="1"/>
          <p:nvPr/>
        </p:nvSpPr>
        <p:spPr>
          <a:xfrm>
            <a:off x="548640" y="3520440"/>
            <a:ext cx="4937760" cy="36576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Perugu Venkata Aditya</a:t>
            </a:r>
            <a:endParaRPr lang="en-US" sz="2000" dirty="0"/>
          </a:p>
        </p:txBody>
      </p:sp>
      <p:sp>
        <p:nvSpPr>
          <p:cNvPr id="6" name="Text 4"/>
          <p:cNvSpPr txBox="1"/>
          <p:nvPr/>
        </p:nvSpPr>
        <p:spPr>
          <a:xfrm>
            <a:off x="548640" y="3904488"/>
            <a:ext cx="4937760" cy="274320"/>
          </a:xfrm>
          <a:prstGeom prst="rect">
            <a:avLst/>
          </a:prstGeom>
          <a:noFill/>
          <a:ln/>
        </p:spPr>
        <p:txBody>
          <a:bodyPr wrap="square" lIns="0" tIns="0" rIns="0" bIns="0" rtlCol="0" anchor="ctr"/>
          <a:lstStyle/>
          <a:p>
            <a:pPr indent="0" marL="0">
              <a:buNone/>
            </a:pPr>
            <a:r>
              <a:rPr lang="en-US" sz="1400" dirty="0">
                <a:solidFill>
                  <a:schemeClr val="bg1"/>
                </a:solidFill>
                <a:latin typeface="Calibri" pitchFamily="34" charset="0"/>
                <a:ea typeface="Calibri" pitchFamily="34" charset="-122"/>
                <a:cs typeface="Calibri" pitchFamily="34" charset="-120"/>
              </a:rPr>
              <a:t>Mechanical Engineering (Digital Manufacturing)</a:t>
            </a:r>
            <a:endParaRPr lang="en-US" sz="1400" dirty="0"/>
          </a:p>
        </p:txBody>
      </p:sp>
      <p:sp>
        <p:nvSpPr>
          <p:cNvPr id="7" name="Text 5"/>
          <p:cNvSpPr txBox="1"/>
          <p:nvPr/>
        </p:nvSpPr>
        <p:spPr>
          <a:xfrm>
            <a:off x="548640" y="4297680"/>
            <a:ext cx="512064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NoonRay Energy Pvt. Ltd, IIT Madras Industrial Park, Chennai  |  24-12-2025</a:t>
            </a:r>
            <a:endParaRPr lang="en-US" sz="1100" dirty="0"/>
          </a:p>
        </p:txBody>
      </p:sp>
      <p:sp>
        <p:nvSpPr>
          <p:cNvPr id="8" name="Title image card"/>
          <p:cNvSpPr/>
          <p:nvPr/>
        </p:nvSpPr>
        <p:spPr>
          <a:xfrm>
            <a:off x="5715000" y="1097280"/>
            <a:ext cx="3017520" cy="3017520"/>
          </a:xfrm>
          <a:prstGeom prst="roundRect">
            <a:avLst>
              <a:gd name="adj" fmla="val 2424"/>
            </a:avLst>
          </a:prstGeom>
          <a:solidFill>
            <a:schemeClr val="bg1"/>
          </a:solidFill>
          <a:ln w="6350">
            <a:solidFill>
              <a:schemeClr val="bg1"/>
            </a:solidFill>
            <a:prstDash val="solid"/>
          </a:ln>
        </p:spPr>
      </p:sp>
      <p:pic>
        <p:nvPicPr>
          <p:cNvPr id="9" name="P-H diagram of R-1234yf" descr="P-H diagram of R-1234yf">    </p:cNvPr>
          <p:cNvPicPr>
            <a:picLocks noChangeAspect="1"/>
          </p:cNvPicPr>
          <p:nvPr/>
        </p:nvPicPr>
        <p:blipFill>
          <a:blip r:embed="rId1"/>
          <a:stretch>
            <a:fillRect/>
          </a:stretch>
        </p:blipFill>
        <p:spPr>
          <a:xfrm>
            <a:off x="5806440" y="1537159"/>
            <a:ext cx="2834640" cy="21377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rPr>
              <a:t>The big picture</a:t>
            </a:r>
            <a:endParaRPr lang="en-US" sz="2800" dirty="0"/>
          </a:p>
        </p:txBody>
      </p:sp>
      <p:pic>
        <p:nvPicPr>
          <p:cNvPr id="3" name="Battery cooling loop with scroll compressor" descr="Battery cooling loop with scroll compressor">    </p:cNvPr>
          <p:cNvPicPr>
            <a:picLocks noChangeAspect="1"/>
          </p:cNvPicPr>
          <p:nvPr/>
        </p:nvPicPr>
        <p:blipFill>
          <a:blip r:embed="rId1"/>
          <a:stretch>
            <a:fillRect/>
          </a:stretch>
        </p:blipFill>
        <p:spPr>
          <a:xfrm>
            <a:off x="457200" y="1019903"/>
            <a:ext cx="8229600" cy="2715073"/>
          </a:xfrm>
          <a:prstGeom prst="rect">
            <a:avLst/>
          </a:prstGeom>
        </p:spPr>
      </p:pic>
      <p:sp>
        <p:nvSpPr>
          <p:cNvPr id="4" name="Part I card"/>
          <p:cNvSpPr/>
          <p:nvPr/>
        </p:nvSpPr>
        <p:spPr>
          <a:xfrm>
            <a:off x="457200" y="3840480"/>
            <a:ext cx="4023360" cy="777240"/>
          </a:xfrm>
          <a:prstGeom prst="roundRect">
            <a:avLst>
              <a:gd name="adj" fmla="val 9412"/>
            </a:avLst>
          </a:prstGeom>
          <a:solidFill>
            <a:schemeClr val="bg2"/>
          </a:solidFill>
          <a:ln w="6350">
            <a:solidFill>
              <a:schemeClr val="bg2"/>
            </a:solidFill>
            <a:prstDash val="solid"/>
          </a:ln>
        </p:spPr>
      </p:sp>
      <p:sp>
        <p:nvSpPr>
          <p:cNvPr id="5" name="Text 2"/>
          <p:cNvSpPr txBox="1"/>
          <p:nvPr/>
        </p:nvSpPr>
        <p:spPr>
          <a:xfrm>
            <a:off x="640080" y="3840480"/>
            <a:ext cx="3657600" cy="777240"/>
          </a:xfrm>
          <a:prstGeom prst="rect">
            <a:avLst/>
          </a:prstGeom>
          <a:noFill/>
          <a:ln/>
        </p:spPr>
        <p:txBody>
          <a:bodyPr wrap="square" lIns="0" tIns="0" rIns="0" bIns="0" rtlCol="0" anchor="ctr"/>
          <a:lstStyle/>
          <a:p>
            <a:pPr indent="0" marL="0">
              <a:buNone/>
            </a:pPr>
            <a:r>
              <a:rPr lang="en-US" sz="1300" b="1" dirty="0">
                <a:solidFill>
                  <a:schemeClr val="accent2"/>
                </a:solidFill>
                <a:latin typeface="Calibri" pitchFamily="34" charset="0"/>
                <a:ea typeface="Calibri" pitchFamily="34" charset="-122"/>
                <a:cs typeface="Calibri" pitchFamily="34" charset="-120"/>
              </a:rPr>
              <a:t>Part I  </a:t>
            </a:r>
            <a:pPr indent="0" marL="0">
              <a:buNone/>
            </a:pPr>
            <a:r>
              <a:rPr lang="en-US" sz="1300" dirty="0">
                <a:solidFill>
                  <a:schemeClr val="tx1"/>
                </a:solidFill>
                <a:latin typeface="Calibri" pitchFamily="34" charset="0"/>
                <a:ea typeface="Calibri" pitchFamily="34" charset="-122"/>
                <a:cs typeface="Calibri" pitchFamily="34" charset="-120"/>
              </a:rPr>
              <a:t>How battery temperature changes with conduction vs convection</a:t>
            </a:r>
            <a:endParaRPr lang="en-US" sz="1300" dirty="0"/>
          </a:p>
        </p:txBody>
      </p:sp>
      <p:sp>
        <p:nvSpPr>
          <p:cNvPr id="6" name="Part II card"/>
          <p:cNvSpPr/>
          <p:nvPr/>
        </p:nvSpPr>
        <p:spPr>
          <a:xfrm>
            <a:off x="4663440" y="3840480"/>
            <a:ext cx="4023360" cy="777240"/>
          </a:xfrm>
          <a:prstGeom prst="roundRect">
            <a:avLst>
              <a:gd name="adj" fmla="val 9412"/>
            </a:avLst>
          </a:prstGeom>
          <a:solidFill>
            <a:schemeClr val="bg2"/>
          </a:solidFill>
          <a:ln w="6350">
            <a:solidFill>
              <a:schemeClr val="bg2"/>
            </a:solidFill>
            <a:prstDash val="solid"/>
          </a:ln>
        </p:spPr>
      </p:sp>
      <p:sp>
        <p:nvSpPr>
          <p:cNvPr id="7" name="Text 4"/>
          <p:cNvSpPr txBox="1"/>
          <p:nvPr/>
        </p:nvSpPr>
        <p:spPr>
          <a:xfrm>
            <a:off x="4846320" y="3840480"/>
            <a:ext cx="3657600" cy="777240"/>
          </a:xfrm>
          <a:prstGeom prst="rect">
            <a:avLst/>
          </a:prstGeom>
          <a:noFill/>
          <a:ln/>
        </p:spPr>
        <p:txBody>
          <a:bodyPr wrap="square" lIns="0" tIns="0" rIns="0" bIns="0" rtlCol="0" anchor="ctr"/>
          <a:lstStyle/>
          <a:p>
            <a:pPr indent="0" marL="0">
              <a:buNone/>
            </a:pPr>
            <a:r>
              <a:rPr lang="en-US" sz="1300" b="1" dirty="0">
                <a:solidFill>
                  <a:schemeClr val="accent2"/>
                </a:solidFill>
                <a:latin typeface="Calibri" pitchFamily="34" charset="0"/>
                <a:ea typeface="Calibri" pitchFamily="34" charset="-122"/>
                <a:cs typeface="Calibri" pitchFamily="34" charset="-120"/>
              </a:rPr>
              <a:t>Part II  </a:t>
            </a:r>
            <a:pPr indent="0" marL="0">
              <a:buNone/>
            </a:pPr>
            <a:r>
              <a:rPr lang="en-US" sz="1300" dirty="0">
                <a:solidFill>
                  <a:schemeClr val="tx1"/>
                </a:solidFill>
                <a:latin typeface="Calibri" pitchFamily="34" charset="0"/>
                <a:ea typeface="Calibri" pitchFamily="34" charset="-122"/>
                <a:cs typeface="Calibri" pitchFamily="34" charset="-120"/>
              </a:rPr>
              <a:t>R-1234yf refrigeration cycle, checked on a P–H diagram</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rPr>
              <a:t>Part I: Two Simulink models of the battery</a:t>
            </a:r>
            <a:endParaRPr lang="en-US" sz="2800" dirty="0"/>
          </a:p>
        </p:txBody>
      </p:sp>
      <p:sp>
        <p:nvSpPr>
          <p:cNvPr id="3" name="Model card A. Convective model"/>
          <p:cNvSpPr/>
          <p:nvPr/>
        </p:nvSpPr>
        <p:spPr>
          <a:xfrm>
            <a:off x="457200" y="1051560"/>
            <a:ext cx="4023360" cy="2880360"/>
          </a:xfrm>
          <a:prstGeom prst="roundRect">
            <a:avLst>
              <a:gd name="adj" fmla="val 2540"/>
            </a:avLst>
          </a:prstGeom>
          <a:solidFill>
            <a:schemeClr val="bg2"/>
          </a:solidFill>
          <a:ln w="6350">
            <a:solidFill>
              <a:schemeClr val="bg2"/>
            </a:solidFill>
            <a:prstDash val="solid"/>
          </a:ln>
        </p:spPr>
      </p:sp>
      <p:sp>
        <p:nvSpPr>
          <p:cNvPr id="4" name="Text 2"/>
          <p:cNvSpPr txBox="1"/>
          <p:nvPr/>
        </p:nvSpPr>
        <p:spPr>
          <a:xfrm>
            <a:off x="640080" y="1143000"/>
            <a:ext cx="3657600" cy="274320"/>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A. Convective model</a:t>
            </a:r>
            <a:endParaRPr lang="en-US" sz="1300" dirty="0"/>
          </a:p>
        </p:txBody>
      </p:sp>
      <p:pic>
        <p:nvPicPr>
          <p:cNvPr id="5" name="Simulink model A. Convective model" descr="Simulink model A. Convective model">    </p:cNvPr>
          <p:cNvPicPr>
            <a:picLocks noChangeAspect="1"/>
          </p:cNvPicPr>
          <p:nvPr/>
        </p:nvPicPr>
        <p:blipFill>
          <a:blip r:embed="rId1"/>
          <a:stretch>
            <a:fillRect/>
          </a:stretch>
        </p:blipFill>
        <p:spPr>
          <a:xfrm>
            <a:off x="594360" y="1578409"/>
            <a:ext cx="3749040" cy="2146702"/>
          </a:xfrm>
          <a:prstGeom prst="rect">
            <a:avLst/>
          </a:prstGeom>
        </p:spPr>
      </p:pic>
      <p:sp>
        <p:nvSpPr>
          <p:cNvPr id="6" name="Text 3"/>
          <p:cNvSpPr txBox="1"/>
          <p:nvPr/>
        </p:nvSpPr>
        <p:spPr>
          <a:xfrm>
            <a:off x="457200" y="4005072"/>
            <a:ext cx="4023360" cy="274320"/>
          </a:xfrm>
          <a:prstGeom prst="rect">
            <a:avLst/>
          </a:prstGeom>
          <a:noFill/>
          <a:ln/>
        </p:spPr>
        <p:txBody>
          <a:bodyPr wrap="square" lIns="0" tIns="0" rIns="0" bIns="0" rtlCol="0" anchor="ctr"/>
          <a:lstStyle/>
          <a:p>
            <a:pPr algn="ctr" indent="0" marL="0">
              <a:buNone/>
            </a:pPr>
            <a:r>
              <a:rPr lang="en-US" sz="1200" i="1" dirty="0">
                <a:solidFill>
                  <a:schemeClr val="accent3"/>
                </a:solidFill>
                <a:latin typeface="Calibri" pitchFamily="34" charset="0"/>
                <a:ea typeface="Calibri" pitchFamily="34" charset="-122"/>
                <a:cs typeface="Calibri" pitchFamily="34" charset="-120"/>
              </a:rPr>
              <a:t>Battery loses heat straight to ambient air</a:t>
            </a:r>
            <a:endParaRPr lang="en-US" sz="1200" dirty="0"/>
          </a:p>
        </p:txBody>
      </p:sp>
      <p:sp>
        <p:nvSpPr>
          <p:cNvPr id="7" name="Model card B. Conductive model with cold plate"/>
          <p:cNvSpPr/>
          <p:nvPr/>
        </p:nvSpPr>
        <p:spPr>
          <a:xfrm>
            <a:off x="4663440" y="1051560"/>
            <a:ext cx="4023360" cy="2880360"/>
          </a:xfrm>
          <a:prstGeom prst="roundRect">
            <a:avLst>
              <a:gd name="adj" fmla="val 2540"/>
            </a:avLst>
          </a:prstGeom>
          <a:solidFill>
            <a:schemeClr val="bg2"/>
          </a:solidFill>
          <a:ln w="6350">
            <a:solidFill>
              <a:schemeClr val="bg2"/>
            </a:solidFill>
            <a:prstDash val="solid"/>
          </a:ln>
        </p:spPr>
      </p:sp>
      <p:sp>
        <p:nvSpPr>
          <p:cNvPr id="8" name="Text 5"/>
          <p:cNvSpPr txBox="1"/>
          <p:nvPr/>
        </p:nvSpPr>
        <p:spPr>
          <a:xfrm>
            <a:off x="4846320" y="1143000"/>
            <a:ext cx="3657600" cy="274320"/>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B. Conductive model with cold plate</a:t>
            </a:r>
            <a:endParaRPr lang="en-US" sz="1300" dirty="0"/>
          </a:p>
        </p:txBody>
      </p:sp>
      <p:pic>
        <p:nvPicPr>
          <p:cNvPr id="9" name="Simulink model B. Conductive model with cold plate" descr="Simulink model B. Conductive model with cold plate">    </p:cNvPr>
          <p:cNvPicPr>
            <a:picLocks noChangeAspect="1"/>
          </p:cNvPicPr>
          <p:nvPr/>
        </p:nvPicPr>
        <p:blipFill>
          <a:blip r:embed="rId2"/>
          <a:stretch>
            <a:fillRect/>
          </a:stretch>
        </p:blipFill>
        <p:spPr>
          <a:xfrm>
            <a:off x="5049764" y="1463040"/>
            <a:ext cx="3250713" cy="2377440"/>
          </a:xfrm>
          <a:prstGeom prst="rect">
            <a:avLst/>
          </a:prstGeom>
        </p:spPr>
      </p:pic>
      <p:sp>
        <p:nvSpPr>
          <p:cNvPr id="10" name="Text 6"/>
          <p:cNvSpPr txBox="1"/>
          <p:nvPr/>
        </p:nvSpPr>
        <p:spPr>
          <a:xfrm>
            <a:off x="4663440" y="4005072"/>
            <a:ext cx="4023360" cy="274320"/>
          </a:xfrm>
          <a:prstGeom prst="rect">
            <a:avLst/>
          </a:prstGeom>
          <a:noFill/>
          <a:ln/>
        </p:spPr>
        <p:txBody>
          <a:bodyPr wrap="square" lIns="0" tIns="0" rIns="0" bIns="0" rtlCol="0" anchor="ctr"/>
          <a:lstStyle/>
          <a:p>
            <a:pPr algn="ctr" indent="0" marL="0">
              <a:buNone/>
            </a:pPr>
            <a:r>
              <a:rPr lang="en-US" sz="1200" i="1" dirty="0">
                <a:solidFill>
                  <a:schemeClr val="accent3"/>
                </a:solidFill>
                <a:latin typeface="Calibri" pitchFamily="34" charset="0"/>
                <a:ea typeface="Calibri" pitchFamily="34" charset="-122"/>
                <a:cs typeface="Calibri" pitchFamily="34" charset="-120"/>
              </a:rPr>
              <a:t>Heat conducts into a cold plate, then convects away</a:t>
            </a:r>
            <a:endParaRPr lang="en-US" sz="1200" dirty="0"/>
          </a:p>
        </p:txBody>
      </p:sp>
      <p:sp>
        <p:nvSpPr>
          <p:cNvPr id="11" name="Text 7"/>
          <p:cNvSpPr txBox="1"/>
          <p:nvPr/>
        </p:nvSpPr>
        <p:spPr>
          <a:xfrm>
            <a:off x="457200" y="4389120"/>
            <a:ext cx="8229600" cy="274320"/>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Battery = one lumped thermal mass, 1 kW constant heat. Fluid flow and electrochemistry are not modelled.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rPr>
              <a:t>Part I: Convective cooling results</a:t>
            </a:r>
            <a:endParaRPr lang="en-US" sz="2800" dirty="0"/>
          </a:p>
        </p:txBody>
      </p:sp>
      <p:sp>
        <p:nvSpPr>
          <p:cNvPr id="3" name="Text 1"/>
          <p:cNvSpPr txBox="1"/>
          <p:nvPr/>
        </p:nvSpPr>
        <p:spPr>
          <a:xfrm>
            <a:off x="457200" y="960120"/>
            <a:ext cx="8229600" cy="274320"/>
          </a:xfrm>
          <a:prstGeom prst="rect">
            <a:avLst/>
          </a:prstGeom>
          <a:noFill/>
          <a:ln/>
        </p:spPr>
        <p:txBody>
          <a:bodyPr wrap="square" lIns="0" tIns="0" rIns="0" bIns="0" rtlCol="0" anchor="ctr"/>
          <a:lstStyle/>
          <a:p>
            <a:pPr indent="0" marL="0">
              <a:buNone/>
            </a:pPr>
            <a:r>
              <a:rPr lang="en-US" sz="1200" dirty="0">
                <a:solidFill>
                  <a:schemeClr val="accent3"/>
                </a:solidFill>
                <a:latin typeface="Calibri" pitchFamily="34" charset="0"/>
                <a:ea typeface="Calibri" pitchFamily="34" charset="-122"/>
                <a:cs typeface="Calibri" pitchFamily="34" charset="-120"/>
              </a:rPr>
              <a:t>Ambient 313.15 K  |  Area 0.94 m²  |  300 kg  |  Cp 1000 J/(kg·K)  |  1 kW  |  1 hour</a:t>
            </a:r>
            <a:endParaRPr lang="en-US" sz="1200" dirty="0"/>
          </a:p>
        </p:txBody>
      </p:sp>
      <p:sp>
        <p:nvSpPr>
          <p:cNvPr id="4" name="Result card 1"/>
          <p:cNvSpPr/>
          <p:nvPr/>
        </p:nvSpPr>
        <p:spPr>
          <a:xfrm>
            <a:off x="457200" y="1325880"/>
            <a:ext cx="2615184" cy="2514600"/>
          </a:xfrm>
          <a:prstGeom prst="roundRect">
            <a:avLst>
              <a:gd name="adj" fmla="val 2909"/>
            </a:avLst>
          </a:prstGeom>
          <a:solidFill>
            <a:schemeClr val="bg2"/>
          </a:solidFill>
          <a:ln w="6350">
            <a:solidFill>
              <a:schemeClr val="bg2"/>
            </a:solidFill>
            <a:prstDash val="solid"/>
          </a:ln>
        </p:spPr>
      </p:sp>
      <p:sp>
        <p:nvSpPr>
          <p:cNvPr id="5" name="Text 3"/>
          <p:cNvSpPr txBox="1"/>
          <p:nvPr/>
        </p:nvSpPr>
        <p:spPr>
          <a:xfrm>
            <a:off x="548640" y="1389888"/>
            <a:ext cx="2432304" cy="292608"/>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h = 5 W/m²·K</a:t>
            </a:r>
            <a:endParaRPr lang="en-US" sz="1400" dirty="0"/>
          </a:p>
        </p:txBody>
      </p:sp>
      <p:pic>
        <p:nvPicPr>
          <p:cNvPr id="6" name="Graph 1" descr="h = 5 W/m²·K temperature curve">    </p:cNvPr>
          <p:cNvPicPr>
            <a:picLocks noChangeAspect="1"/>
          </p:cNvPicPr>
          <p:nvPr/>
        </p:nvPicPr>
        <p:blipFill>
          <a:blip r:embed="rId1"/>
          <a:stretch>
            <a:fillRect/>
          </a:stretch>
        </p:blipFill>
        <p:spPr>
          <a:xfrm>
            <a:off x="566928" y="1779874"/>
            <a:ext cx="2395728" cy="1286572"/>
          </a:xfrm>
          <a:prstGeom prst="rect">
            <a:avLst/>
          </a:prstGeom>
        </p:spPr>
      </p:pic>
      <p:sp>
        <p:nvSpPr>
          <p:cNvPr id="7" name="Text 4"/>
          <p:cNvSpPr txBox="1"/>
          <p:nvPr/>
        </p:nvSpPr>
        <p:spPr>
          <a:xfrm>
            <a:off x="548640" y="3200400"/>
            <a:ext cx="2432304" cy="502920"/>
          </a:xfrm>
          <a:prstGeom prst="rect">
            <a:avLst/>
          </a:prstGeom>
          <a:noFill/>
          <a:ln/>
        </p:spPr>
        <p:txBody>
          <a:bodyPr wrap="square" lIns="0" tIns="0" rIns="0" bIns="0" rtlCol="0" anchor="ctr"/>
          <a:lstStyle/>
          <a:p>
            <a:pPr algn="ctr" indent="0" marL="0">
              <a:buNone/>
            </a:pPr>
            <a:r>
              <a:rPr lang="en-US" sz="2200" b="1" dirty="0">
                <a:solidFill>
                  <a:schemeClr val="accent2"/>
                </a:solidFill>
                <a:latin typeface="Calibri" pitchFamily="34" charset="0"/>
                <a:ea typeface="Calibri" pitchFamily="34" charset="-122"/>
                <a:cs typeface="Calibri" pitchFamily="34" charset="-120"/>
              </a:rPr>
              <a:t>308 → 320 K</a:t>
            </a:r>
            <a:endParaRPr lang="en-US" sz="2200" dirty="0"/>
          </a:p>
        </p:txBody>
      </p:sp>
      <p:sp>
        <p:nvSpPr>
          <p:cNvPr id="8" name="Result card 2"/>
          <p:cNvSpPr/>
          <p:nvPr/>
        </p:nvSpPr>
        <p:spPr>
          <a:xfrm>
            <a:off x="3264408" y="1325880"/>
            <a:ext cx="2615184" cy="2514600"/>
          </a:xfrm>
          <a:prstGeom prst="roundRect">
            <a:avLst>
              <a:gd name="adj" fmla="val 2909"/>
            </a:avLst>
          </a:prstGeom>
          <a:solidFill>
            <a:schemeClr val="bg2"/>
          </a:solidFill>
          <a:ln w="6350">
            <a:solidFill>
              <a:schemeClr val="bg2"/>
            </a:solidFill>
            <a:prstDash val="solid"/>
          </a:ln>
        </p:spPr>
      </p:sp>
      <p:sp>
        <p:nvSpPr>
          <p:cNvPr id="9" name="Text 6"/>
          <p:cNvSpPr txBox="1"/>
          <p:nvPr/>
        </p:nvSpPr>
        <p:spPr>
          <a:xfrm>
            <a:off x="3355848" y="1389888"/>
            <a:ext cx="2432304" cy="292608"/>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h = 100 W/m²·K</a:t>
            </a:r>
            <a:endParaRPr lang="en-US" sz="1400" dirty="0"/>
          </a:p>
        </p:txBody>
      </p:sp>
      <p:pic>
        <p:nvPicPr>
          <p:cNvPr id="10" name="Graph 2" descr="h = 100 W/m²·K temperature curve">    </p:cNvPr>
          <p:cNvPicPr>
            <a:picLocks noChangeAspect="1"/>
          </p:cNvPicPr>
          <p:nvPr/>
        </p:nvPicPr>
        <p:blipFill>
          <a:blip r:embed="rId2"/>
          <a:stretch>
            <a:fillRect/>
          </a:stretch>
        </p:blipFill>
        <p:spPr>
          <a:xfrm>
            <a:off x="3374136" y="1777393"/>
            <a:ext cx="2395728" cy="1291534"/>
          </a:xfrm>
          <a:prstGeom prst="rect">
            <a:avLst/>
          </a:prstGeom>
        </p:spPr>
      </p:pic>
      <p:sp>
        <p:nvSpPr>
          <p:cNvPr id="11" name="Text 7"/>
          <p:cNvSpPr txBox="1"/>
          <p:nvPr/>
        </p:nvSpPr>
        <p:spPr>
          <a:xfrm>
            <a:off x="3355848" y="3200400"/>
            <a:ext cx="2432304" cy="502920"/>
          </a:xfrm>
          <a:prstGeom prst="rect">
            <a:avLst/>
          </a:prstGeom>
          <a:noFill/>
          <a:ln/>
        </p:spPr>
        <p:txBody>
          <a:bodyPr wrap="square" lIns="0" tIns="0" rIns="0" bIns="0" rtlCol="0" anchor="ctr"/>
          <a:lstStyle/>
          <a:p>
            <a:pPr algn="ctr" indent="0" marL="0">
              <a:buNone/>
            </a:pPr>
            <a:r>
              <a:rPr lang="en-US" sz="2200" b="1" dirty="0">
                <a:solidFill>
                  <a:schemeClr val="accent2"/>
                </a:solidFill>
                <a:latin typeface="Calibri" pitchFamily="34" charset="0"/>
                <a:ea typeface="Calibri" pitchFamily="34" charset="-122"/>
                <a:cs typeface="Calibri" pitchFamily="34" charset="-120"/>
              </a:rPr>
              <a:t>308 → 318.7 K</a:t>
            </a:r>
            <a:endParaRPr lang="en-US" sz="2200" dirty="0"/>
          </a:p>
        </p:txBody>
      </p:sp>
      <p:sp>
        <p:nvSpPr>
          <p:cNvPr id="12" name="Result card 3"/>
          <p:cNvSpPr/>
          <p:nvPr/>
        </p:nvSpPr>
        <p:spPr>
          <a:xfrm>
            <a:off x="6071616" y="1325880"/>
            <a:ext cx="2615184" cy="2514600"/>
          </a:xfrm>
          <a:prstGeom prst="roundRect">
            <a:avLst>
              <a:gd name="adj" fmla="val 2909"/>
            </a:avLst>
          </a:prstGeom>
          <a:solidFill>
            <a:schemeClr val="bg2"/>
          </a:solidFill>
          <a:ln w="6350">
            <a:solidFill>
              <a:schemeClr val="bg2"/>
            </a:solidFill>
            <a:prstDash val="solid"/>
          </a:ln>
        </p:spPr>
      </p:sp>
      <p:sp>
        <p:nvSpPr>
          <p:cNvPr id="13" name="Text 9"/>
          <p:cNvSpPr txBox="1"/>
          <p:nvPr/>
        </p:nvSpPr>
        <p:spPr>
          <a:xfrm>
            <a:off x="6163056" y="1389888"/>
            <a:ext cx="2432304" cy="292608"/>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h = 500 W/m²·K</a:t>
            </a:r>
            <a:endParaRPr lang="en-US" sz="1400" dirty="0"/>
          </a:p>
        </p:txBody>
      </p:sp>
      <p:pic>
        <p:nvPicPr>
          <p:cNvPr id="14" name="Graph 3" descr="h = 500 W/m²·K temperature curve">    </p:cNvPr>
          <p:cNvPicPr>
            <a:picLocks noChangeAspect="1"/>
          </p:cNvPicPr>
          <p:nvPr/>
        </p:nvPicPr>
        <p:blipFill>
          <a:blip r:embed="rId3"/>
          <a:stretch>
            <a:fillRect/>
          </a:stretch>
        </p:blipFill>
        <p:spPr>
          <a:xfrm>
            <a:off x="6181344" y="1779874"/>
            <a:ext cx="2395728" cy="1286572"/>
          </a:xfrm>
          <a:prstGeom prst="rect">
            <a:avLst/>
          </a:prstGeom>
        </p:spPr>
      </p:pic>
      <p:sp>
        <p:nvSpPr>
          <p:cNvPr id="15" name="Text 10"/>
          <p:cNvSpPr txBox="1"/>
          <p:nvPr/>
        </p:nvSpPr>
        <p:spPr>
          <a:xfrm>
            <a:off x="6163056" y="3200400"/>
            <a:ext cx="2432304" cy="502920"/>
          </a:xfrm>
          <a:prstGeom prst="rect">
            <a:avLst/>
          </a:prstGeom>
          <a:noFill/>
          <a:ln/>
        </p:spPr>
        <p:txBody>
          <a:bodyPr wrap="square" lIns="0" tIns="0" rIns="0" bIns="0" rtlCol="0" anchor="ctr"/>
          <a:lstStyle/>
          <a:p>
            <a:pPr algn="ctr" indent="0" marL="0">
              <a:buNone/>
            </a:pPr>
            <a:r>
              <a:rPr lang="en-US" sz="2200" b="1" dirty="0">
                <a:solidFill>
                  <a:schemeClr val="accent2"/>
                </a:solidFill>
                <a:latin typeface="Calibri" pitchFamily="34" charset="0"/>
                <a:ea typeface="Calibri" pitchFamily="34" charset="-122"/>
                <a:cs typeface="Calibri" pitchFamily="34" charset="-120"/>
              </a:rPr>
              <a:t>308 → 315.2 K</a:t>
            </a:r>
            <a:endParaRPr lang="en-US" sz="2200" dirty="0"/>
          </a:p>
        </p:txBody>
      </p:sp>
      <p:sp>
        <p:nvSpPr>
          <p:cNvPr id="16" name="Takeaway card"/>
          <p:cNvSpPr/>
          <p:nvPr/>
        </p:nvSpPr>
        <p:spPr>
          <a:xfrm>
            <a:off x="457200" y="4023360"/>
            <a:ext cx="8229600" cy="640080"/>
          </a:xfrm>
          <a:prstGeom prst="roundRect">
            <a:avLst>
              <a:gd name="adj" fmla="val 11429"/>
            </a:avLst>
          </a:prstGeom>
          <a:solidFill>
            <a:schemeClr val="accent4"/>
          </a:solidFill>
          <a:ln w="6350">
            <a:solidFill>
              <a:schemeClr val="accent4"/>
            </a:solidFill>
            <a:prstDash val="solid"/>
          </a:ln>
        </p:spPr>
      </p:sp>
      <p:sp>
        <p:nvSpPr>
          <p:cNvPr id="17" name="Text 12"/>
          <p:cNvSpPr txBox="1"/>
          <p:nvPr/>
        </p:nvSpPr>
        <p:spPr>
          <a:xfrm>
            <a:off x="640080" y="4023360"/>
            <a:ext cx="7863840" cy="640080"/>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Takeaway  </a:t>
            </a:r>
            <a:pPr indent="0" marL="0">
              <a:buNone/>
            </a:pPr>
            <a:r>
              <a:rPr lang="en-US" sz="1300" dirty="0">
                <a:solidFill>
                  <a:schemeClr val="tx1"/>
                </a:solidFill>
                <a:latin typeface="Calibri" pitchFamily="34" charset="0"/>
                <a:ea typeface="Calibri" pitchFamily="34" charset="-122"/>
                <a:cs typeface="Calibri" pitchFamily="34" charset="-120"/>
              </a:rPr>
              <a:t>Higher convective coefficient h removes more heat, so the battery ends cooler. Low h gives the biggest rise.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rPr>
              <a:t>Part I: Conductive cooling results</a:t>
            </a:r>
            <a:endParaRPr lang="en-US" sz="2800" dirty="0"/>
          </a:p>
        </p:txBody>
      </p:sp>
      <p:sp>
        <p:nvSpPr>
          <p:cNvPr id="3" name="Text 1"/>
          <p:cNvSpPr txBox="1"/>
          <p:nvPr/>
        </p:nvSpPr>
        <p:spPr>
          <a:xfrm>
            <a:off x="457200" y="960120"/>
            <a:ext cx="8229600" cy="274320"/>
          </a:xfrm>
          <a:prstGeom prst="rect">
            <a:avLst/>
          </a:prstGeom>
          <a:noFill/>
          <a:ln/>
        </p:spPr>
        <p:txBody>
          <a:bodyPr wrap="square" lIns="0" tIns="0" rIns="0" bIns="0" rtlCol="0" anchor="ctr"/>
          <a:lstStyle/>
          <a:p>
            <a:pPr indent="0" marL="0">
              <a:buNone/>
            </a:pPr>
            <a:r>
              <a:rPr lang="en-US" sz="1200" dirty="0">
                <a:solidFill>
                  <a:schemeClr val="accent3"/>
                </a:solidFill>
                <a:latin typeface="Calibri" pitchFamily="34" charset="0"/>
                <a:ea typeface="Calibri" pitchFamily="34" charset="-122"/>
                <a:cs typeface="Calibri" pitchFamily="34" charset="-120"/>
              </a:rPr>
              <a:t>Battery 500×400×300 mm  |  Cold plate 5 cm, 293.15 K  |  k = 237 W/(m·K)  |  Start 308.15 K  |  1 kW</a:t>
            </a:r>
            <a:endParaRPr lang="en-US" sz="1200" dirty="0"/>
          </a:p>
        </p:txBody>
      </p:sp>
      <p:sp>
        <p:nvSpPr>
          <p:cNvPr id="4" name="Result card 1"/>
          <p:cNvSpPr/>
          <p:nvPr/>
        </p:nvSpPr>
        <p:spPr>
          <a:xfrm>
            <a:off x="457200" y="1325880"/>
            <a:ext cx="2615184" cy="2514600"/>
          </a:xfrm>
          <a:prstGeom prst="roundRect">
            <a:avLst>
              <a:gd name="adj" fmla="val 2909"/>
            </a:avLst>
          </a:prstGeom>
          <a:solidFill>
            <a:schemeClr val="bg2"/>
          </a:solidFill>
          <a:ln w="6350">
            <a:solidFill>
              <a:schemeClr val="bg2"/>
            </a:solidFill>
            <a:prstDash val="solid"/>
          </a:ln>
        </p:spPr>
      </p:sp>
      <p:sp>
        <p:nvSpPr>
          <p:cNvPr id="5" name="Text 3"/>
          <p:cNvSpPr txBox="1"/>
          <p:nvPr/>
        </p:nvSpPr>
        <p:spPr>
          <a:xfrm>
            <a:off x="548640" y="1389888"/>
            <a:ext cx="2432304" cy="292608"/>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Layer = 8 mm</a:t>
            </a:r>
            <a:endParaRPr lang="en-US" sz="1400" dirty="0"/>
          </a:p>
        </p:txBody>
      </p:sp>
      <p:pic>
        <p:nvPicPr>
          <p:cNvPr id="6" name="Graph 1" descr="Layer = 8 mm temperature curve">    </p:cNvPr>
          <p:cNvPicPr>
            <a:picLocks noChangeAspect="1"/>
          </p:cNvPicPr>
          <p:nvPr/>
        </p:nvPicPr>
        <p:blipFill>
          <a:blip r:embed="rId1"/>
          <a:stretch>
            <a:fillRect/>
          </a:stretch>
        </p:blipFill>
        <p:spPr>
          <a:xfrm>
            <a:off x="566928" y="1850338"/>
            <a:ext cx="2395728" cy="1145643"/>
          </a:xfrm>
          <a:prstGeom prst="rect">
            <a:avLst/>
          </a:prstGeom>
        </p:spPr>
      </p:pic>
      <p:sp>
        <p:nvSpPr>
          <p:cNvPr id="7" name="Text 4"/>
          <p:cNvSpPr txBox="1"/>
          <p:nvPr/>
        </p:nvSpPr>
        <p:spPr>
          <a:xfrm>
            <a:off x="548640" y="3200400"/>
            <a:ext cx="2432304" cy="502920"/>
          </a:xfrm>
          <a:prstGeom prst="rect">
            <a:avLst/>
          </a:prstGeom>
          <a:noFill/>
          <a:ln/>
        </p:spPr>
        <p:txBody>
          <a:bodyPr wrap="square" lIns="0" tIns="0" rIns="0" bIns="0" rtlCol="0" anchor="ctr"/>
          <a:lstStyle/>
          <a:p>
            <a:pPr algn="ctr" indent="0" marL="0">
              <a:buNone/>
            </a:pPr>
            <a:r>
              <a:rPr lang="en-US" sz="2200" b="1" dirty="0">
                <a:solidFill>
                  <a:schemeClr val="accent2"/>
                </a:solidFill>
                <a:latin typeface="Calibri" pitchFamily="34" charset="0"/>
                <a:ea typeface="Calibri" pitchFamily="34" charset="-122"/>
                <a:cs typeface="Calibri" pitchFamily="34" charset="-120"/>
              </a:rPr>
              <a:t>308 → 293.33 K</a:t>
            </a:r>
            <a:endParaRPr lang="en-US" sz="2200" dirty="0"/>
          </a:p>
        </p:txBody>
      </p:sp>
      <p:sp>
        <p:nvSpPr>
          <p:cNvPr id="8" name="Result card 2"/>
          <p:cNvSpPr/>
          <p:nvPr/>
        </p:nvSpPr>
        <p:spPr>
          <a:xfrm>
            <a:off x="3264408" y="1325880"/>
            <a:ext cx="2615184" cy="2514600"/>
          </a:xfrm>
          <a:prstGeom prst="roundRect">
            <a:avLst>
              <a:gd name="adj" fmla="val 2909"/>
            </a:avLst>
          </a:prstGeom>
          <a:solidFill>
            <a:schemeClr val="bg2"/>
          </a:solidFill>
          <a:ln w="6350">
            <a:solidFill>
              <a:schemeClr val="bg2"/>
            </a:solidFill>
            <a:prstDash val="solid"/>
          </a:ln>
        </p:spPr>
      </p:sp>
      <p:sp>
        <p:nvSpPr>
          <p:cNvPr id="9" name="Text 6"/>
          <p:cNvSpPr txBox="1"/>
          <p:nvPr/>
        </p:nvSpPr>
        <p:spPr>
          <a:xfrm>
            <a:off x="3355848" y="1389888"/>
            <a:ext cx="2432304" cy="292608"/>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Layer = 5 mm</a:t>
            </a:r>
            <a:endParaRPr lang="en-US" sz="1400" dirty="0"/>
          </a:p>
        </p:txBody>
      </p:sp>
      <p:pic>
        <p:nvPicPr>
          <p:cNvPr id="10" name="Graph 2" descr="Layer = 5 mm temperature curve">    </p:cNvPr>
          <p:cNvPicPr>
            <a:picLocks noChangeAspect="1"/>
          </p:cNvPicPr>
          <p:nvPr/>
        </p:nvPicPr>
        <p:blipFill>
          <a:blip r:embed="rId2"/>
          <a:stretch>
            <a:fillRect/>
          </a:stretch>
        </p:blipFill>
        <p:spPr>
          <a:xfrm>
            <a:off x="3374136" y="1831084"/>
            <a:ext cx="2395728" cy="1184151"/>
          </a:xfrm>
          <a:prstGeom prst="rect">
            <a:avLst/>
          </a:prstGeom>
        </p:spPr>
      </p:pic>
      <p:sp>
        <p:nvSpPr>
          <p:cNvPr id="11" name="Text 7"/>
          <p:cNvSpPr txBox="1"/>
          <p:nvPr/>
        </p:nvSpPr>
        <p:spPr>
          <a:xfrm>
            <a:off x="3355848" y="3200400"/>
            <a:ext cx="2432304" cy="502920"/>
          </a:xfrm>
          <a:prstGeom prst="rect">
            <a:avLst/>
          </a:prstGeom>
          <a:noFill/>
          <a:ln/>
        </p:spPr>
        <p:txBody>
          <a:bodyPr wrap="square" lIns="0" tIns="0" rIns="0" bIns="0" rtlCol="0" anchor="ctr"/>
          <a:lstStyle/>
          <a:p>
            <a:pPr algn="ctr" indent="0" marL="0">
              <a:buNone/>
            </a:pPr>
            <a:r>
              <a:rPr lang="en-US" sz="2200" b="1" dirty="0">
                <a:solidFill>
                  <a:schemeClr val="accent2"/>
                </a:solidFill>
                <a:latin typeface="Calibri" pitchFamily="34" charset="0"/>
                <a:ea typeface="Calibri" pitchFamily="34" charset="-122"/>
                <a:cs typeface="Calibri" pitchFamily="34" charset="-120"/>
              </a:rPr>
              <a:t>308 → 293.27 K</a:t>
            </a:r>
            <a:endParaRPr lang="en-US" sz="2200" dirty="0"/>
          </a:p>
        </p:txBody>
      </p:sp>
      <p:sp>
        <p:nvSpPr>
          <p:cNvPr id="12" name="Result card 3"/>
          <p:cNvSpPr/>
          <p:nvPr/>
        </p:nvSpPr>
        <p:spPr>
          <a:xfrm>
            <a:off x="6071616" y="1325880"/>
            <a:ext cx="2615184" cy="2514600"/>
          </a:xfrm>
          <a:prstGeom prst="roundRect">
            <a:avLst>
              <a:gd name="adj" fmla="val 2909"/>
            </a:avLst>
          </a:prstGeom>
          <a:solidFill>
            <a:schemeClr val="bg2"/>
          </a:solidFill>
          <a:ln w="6350">
            <a:solidFill>
              <a:schemeClr val="bg2"/>
            </a:solidFill>
            <a:prstDash val="solid"/>
          </a:ln>
        </p:spPr>
      </p:sp>
      <p:sp>
        <p:nvSpPr>
          <p:cNvPr id="13" name="Text 9"/>
          <p:cNvSpPr txBox="1"/>
          <p:nvPr/>
        </p:nvSpPr>
        <p:spPr>
          <a:xfrm>
            <a:off x="6163056" y="1389888"/>
            <a:ext cx="2432304" cy="292608"/>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Layer = 3 mm</a:t>
            </a:r>
            <a:endParaRPr lang="en-US" sz="1400" dirty="0"/>
          </a:p>
        </p:txBody>
      </p:sp>
      <p:pic>
        <p:nvPicPr>
          <p:cNvPr id="14" name="Graph 3" descr="Layer = 3 mm temperature curve">    </p:cNvPr>
          <p:cNvPicPr>
            <a:picLocks noChangeAspect="1"/>
          </p:cNvPicPr>
          <p:nvPr/>
        </p:nvPicPr>
        <p:blipFill>
          <a:blip r:embed="rId3"/>
          <a:stretch>
            <a:fillRect/>
          </a:stretch>
        </p:blipFill>
        <p:spPr>
          <a:xfrm>
            <a:off x="6181344" y="1775532"/>
            <a:ext cx="2395728" cy="1295256"/>
          </a:xfrm>
          <a:prstGeom prst="rect">
            <a:avLst/>
          </a:prstGeom>
        </p:spPr>
      </p:pic>
      <p:sp>
        <p:nvSpPr>
          <p:cNvPr id="15" name="Text 10"/>
          <p:cNvSpPr txBox="1"/>
          <p:nvPr/>
        </p:nvSpPr>
        <p:spPr>
          <a:xfrm>
            <a:off x="6163056" y="3200400"/>
            <a:ext cx="2432304" cy="502920"/>
          </a:xfrm>
          <a:prstGeom prst="rect">
            <a:avLst/>
          </a:prstGeom>
          <a:noFill/>
          <a:ln/>
        </p:spPr>
        <p:txBody>
          <a:bodyPr wrap="square" lIns="0" tIns="0" rIns="0" bIns="0" rtlCol="0" anchor="ctr"/>
          <a:lstStyle/>
          <a:p>
            <a:pPr algn="ctr" indent="0" marL="0">
              <a:buNone/>
            </a:pPr>
            <a:r>
              <a:rPr lang="en-US" sz="2200" b="1" dirty="0">
                <a:solidFill>
                  <a:schemeClr val="accent2"/>
                </a:solidFill>
                <a:latin typeface="Calibri" pitchFamily="34" charset="0"/>
                <a:ea typeface="Calibri" pitchFamily="34" charset="-122"/>
                <a:cs typeface="Calibri" pitchFamily="34" charset="-120"/>
              </a:rPr>
              <a:t>308 → 293.22 K</a:t>
            </a:r>
            <a:endParaRPr lang="en-US" sz="2200" dirty="0"/>
          </a:p>
        </p:txBody>
      </p:sp>
      <p:sp>
        <p:nvSpPr>
          <p:cNvPr id="16" name="Takeaway card"/>
          <p:cNvSpPr/>
          <p:nvPr/>
        </p:nvSpPr>
        <p:spPr>
          <a:xfrm>
            <a:off x="457200" y="4023360"/>
            <a:ext cx="8229600" cy="640080"/>
          </a:xfrm>
          <a:prstGeom prst="roundRect">
            <a:avLst>
              <a:gd name="adj" fmla="val 11429"/>
            </a:avLst>
          </a:prstGeom>
          <a:solidFill>
            <a:schemeClr val="accent4"/>
          </a:solidFill>
          <a:ln w="6350">
            <a:solidFill>
              <a:schemeClr val="accent4"/>
            </a:solidFill>
            <a:prstDash val="solid"/>
          </a:ln>
        </p:spPr>
      </p:sp>
      <p:sp>
        <p:nvSpPr>
          <p:cNvPr id="17" name="Text 12"/>
          <p:cNvSpPr txBox="1"/>
          <p:nvPr/>
        </p:nvSpPr>
        <p:spPr>
          <a:xfrm>
            <a:off x="640080" y="4023360"/>
            <a:ext cx="7863840" cy="640080"/>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Takeaway  </a:t>
            </a:r>
            <a:pPr indent="0" marL="0">
              <a:buNone/>
            </a:pPr>
            <a:r>
              <a:rPr lang="en-US" sz="1300" dirty="0">
                <a:solidFill>
                  <a:schemeClr val="tx1"/>
                </a:solidFill>
                <a:latin typeface="Calibri" pitchFamily="34" charset="0"/>
                <a:ea typeface="Calibri" pitchFamily="34" charset="-122"/>
                <a:cs typeface="Calibri" pitchFamily="34" charset="-120"/>
              </a:rPr>
              <a:t>Temperature drops fast and settles near the cold plate temperature. A thinner layer gives a quicker initial drop.</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rPr>
              <a:t>Part I conclusion: conduction wins</a:t>
            </a:r>
            <a:endParaRPr lang="en-US" sz="2800" dirty="0"/>
          </a:p>
        </p:txBody>
      </p:sp>
      <p:sp>
        <p:nvSpPr>
          <p:cNvPr id="3" name="Conclusion card Convective (direct to ambient)"/>
          <p:cNvSpPr/>
          <p:nvPr/>
        </p:nvSpPr>
        <p:spPr>
          <a:xfrm>
            <a:off x="457200" y="1097280"/>
            <a:ext cx="4023360" cy="2880360"/>
          </a:xfrm>
          <a:prstGeom prst="roundRect">
            <a:avLst>
              <a:gd name="adj" fmla="val 2540"/>
            </a:avLst>
          </a:prstGeom>
          <a:solidFill>
            <a:schemeClr val="bg2"/>
          </a:solidFill>
          <a:ln w="6350">
            <a:solidFill>
              <a:schemeClr val="bg2"/>
            </a:solidFill>
            <a:prstDash val="solid"/>
          </a:ln>
        </p:spPr>
      </p:sp>
      <p:sp>
        <p:nvSpPr>
          <p:cNvPr id="4" name="Text 2"/>
          <p:cNvSpPr txBox="1"/>
          <p:nvPr/>
        </p:nvSpPr>
        <p:spPr>
          <a:xfrm>
            <a:off x="685800" y="1188720"/>
            <a:ext cx="3566160" cy="3200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Convective (direct to ambient)</a:t>
            </a:r>
            <a:endParaRPr lang="en-US" sz="1500" dirty="0"/>
          </a:p>
        </p:txBody>
      </p:sp>
      <p:sp>
        <p:nvSpPr>
          <p:cNvPr id="5" name="Text 3"/>
          <p:cNvSpPr txBox="1"/>
          <p:nvPr/>
        </p:nvSpPr>
        <p:spPr>
          <a:xfrm>
            <a:off x="685800" y="1554480"/>
            <a:ext cx="3566160" cy="73152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315–320 K</a:t>
            </a:r>
            <a:endParaRPr lang="en-US" sz="4400" dirty="0"/>
          </a:p>
        </p:txBody>
      </p:sp>
      <p:sp>
        <p:nvSpPr>
          <p:cNvPr id="6" name="Text 4"/>
          <p:cNvSpPr txBox="1"/>
          <p:nvPr/>
        </p:nvSpPr>
        <p:spPr>
          <a:xfrm>
            <a:off x="685800" y="2423160"/>
            <a:ext cx="356616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Slow, gradual rise</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Set by the convective coefficient h</a:t>
            </a:r>
            <a:endParaRPr lang="en-US" sz="1400" dirty="0"/>
          </a:p>
        </p:txBody>
      </p:sp>
      <p:sp>
        <p:nvSpPr>
          <p:cNvPr id="7" name="Conclusion card Conductive (cold plate)"/>
          <p:cNvSpPr/>
          <p:nvPr/>
        </p:nvSpPr>
        <p:spPr>
          <a:xfrm>
            <a:off x="4663440" y="1097280"/>
            <a:ext cx="4023360" cy="2880360"/>
          </a:xfrm>
          <a:prstGeom prst="roundRect">
            <a:avLst>
              <a:gd name="adj" fmla="val 2540"/>
            </a:avLst>
          </a:prstGeom>
          <a:solidFill>
            <a:schemeClr val="bg2"/>
          </a:solidFill>
          <a:ln w="6350">
            <a:solidFill>
              <a:schemeClr val="bg2"/>
            </a:solidFill>
            <a:prstDash val="solid"/>
          </a:ln>
        </p:spPr>
      </p:sp>
      <p:sp>
        <p:nvSpPr>
          <p:cNvPr id="8" name="Text 6"/>
          <p:cNvSpPr txBox="1"/>
          <p:nvPr/>
        </p:nvSpPr>
        <p:spPr>
          <a:xfrm>
            <a:off x="4892040" y="1188720"/>
            <a:ext cx="3566160" cy="320040"/>
          </a:xfrm>
          <a:prstGeom prst="rect">
            <a:avLst/>
          </a:prstGeom>
          <a:noFill/>
          <a:ln/>
        </p:spPr>
        <p:txBody>
          <a:bodyPr wrap="square" lIns="0" tIns="0" rIns="0" bIns="0" rtlCol="0" anchor="ctr"/>
          <a:lstStyle/>
          <a:p>
            <a:pPr indent="0" marL="0">
              <a:buNone/>
            </a:pPr>
            <a:r>
              <a:rPr lang="en-US" sz="1500" b="1" dirty="0">
                <a:solidFill>
                  <a:schemeClr val="accent1"/>
                </a:solidFill>
                <a:latin typeface="Calibri" pitchFamily="34" charset="0"/>
                <a:ea typeface="Calibri" pitchFamily="34" charset="-122"/>
                <a:cs typeface="Calibri" pitchFamily="34" charset="-120"/>
              </a:rPr>
              <a:t>Conductive (cold plate)</a:t>
            </a:r>
            <a:endParaRPr lang="en-US" sz="1500" dirty="0"/>
          </a:p>
        </p:txBody>
      </p:sp>
      <p:sp>
        <p:nvSpPr>
          <p:cNvPr id="9" name="Text 7"/>
          <p:cNvSpPr txBox="1"/>
          <p:nvPr/>
        </p:nvSpPr>
        <p:spPr>
          <a:xfrm>
            <a:off x="4892040" y="1554480"/>
            <a:ext cx="3566160" cy="73152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 293 K</a:t>
            </a:r>
            <a:endParaRPr lang="en-US" sz="4400" dirty="0"/>
          </a:p>
        </p:txBody>
      </p:sp>
      <p:sp>
        <p:nvSpPr>
          <p:cNvPr id="10" name="Text 8"/>
          <p:cNvSpPr txBox="1"/>
          <p:nvPr/>
        </p:nvSpPr>
        <p:spPr>
          <a:xfrm>
            <a:off x="4892040" y="2423160"/>
            <a:ext cx="356616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Rapid drop, then stable</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Set by thermal resistance of the layer</a:t>
            </a:r>
            <a:endParaRPr lang="en-US" sz="1400" dirty="0"/>
          </a:p>
        </p:txBody>
      </p:sp>
      <p:sp>
        <p:nvSpPr>
          <p:cNvPr id="11" name="Message card"/>
          <p:cNvSpPr/>
          <p:nvPr/>
        </p:nvSpPr>
        <p:spPr>
          <a:xfrm>
            <a:off x="457200" y="4114800"/>
            <a:ext cx="8229600" cy="548640"/>
          </a:xfrm>
          <a:prstGeom prst="roundRect">
            <a:avLst>
              <a:gd name="adj" fmla="val 13333"/>
            </a:avLst>
          </a:prstGeom>
          <a:solidFill>
            <a:schemeClr val="tx2"/>
          </a:solidFill>
          <a:ln w="6350">
            <a:solidFill>
              <a:schemeClr val="tx2"/>
            </a:solidFill>
            <a:prstDash val="solid"/>
          </a:ln>
        </p:spPr>
      </p:sp>
      <p:sp>
        <p:nvSpPr>
          <p:cNvPr id="12" name="Text 10"/>
          <p:cNvSpPr txBox="1"/>
          <p:nvPr/>
        </p:nvSpPr>
        <p:spPr>
          <a:xfrm>
            <a:off x="640080" y="4114800"/>
            <a:ext cx="7863840" cy="548640"/>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Under the same 1 kW heat load, a cold plate cools the battery faster and to a lower temperature.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rPr>
              <a:t>Part II: R-1234yf refrigeration cycle in Simulink</a:t>
            </a:r>
            <a:endParaRPr lang="en-US" sz="2800" dirty="0"/>
          </a:p>
        </p:txBody>
      </p:sp>
      <p:sp>
        <p:nvSpPr>
          <p:cNvPr id="3" name="Model card"/>
          <p:cNvSpPr/>
          <p:nvPr/>
        </p:nvSpPr>
        <p:spPr>
          <a:xfrm>
            <a:off x="457200" y="1051560"/>
            <a:ext cx="5303520" cy="3611880"/>
          </a:xfrm>
          <a:prstGeom prst="roundRect">
            <a:avLst>
              <a:gd name="adj" fmla="val 2025"/>
            </a:avLst>
          </a:prstGeom>
          <a:solidFill>
            <a:schemeClr val="bg2"/>
          </a:solidFill>
          <a:ln w="6350">
            <a:solidFill>
              <a:schemeClr val="bg2"/>
            </a:solidFill>
            <a:prstDash val="solid"/>
          </a:ln>
        </p:spPr>
      </p:sp>
      <p:pic>
        <p:nvPicPr>
          <p:cNvPr id="4" name="Simulink refrigeration cycle model" descr="Simulink refrigeration cycle model">    </p:cNvPr>
          <p:cNvPicPr>
            <a:picLocks noChangeAspect="1"/>
          </p:cNvPicPr>
          <p:nvPr/>
        </p:nvPicPr>
        <p:blipFill>
          <a:blip r:embed="rId1"/>
          <a:stretch>
            <a:fillRect/>
          </a:stretch>
        </p:blipFill>
        <p:spPr>
          <a:xfrm>
            <a:off x="658203" y="1143000"/>
            <a:ext cx="4901514" cy="3429000"/>
          </a:xfrm>
          <a:prstGeom prst="rect">
            <a:avLst/>
          </a:prstGeom>
        </p:spPr>
      </p:pic>
      <p:sp>
        <p:nvSpPr>
          <p:cNvPr id="5" name="Number 1"/>
          <p:cNvSpPr/>
          <p:nvPr/>
        </p:nvSpPr>
        <p:spPr>
          <a:xfrm>
            <a:off x="5989320" y="1188720"/>
            <a:ext cx="457200" cy="457200"/>
          </a:xfrm>
          <a:prstGeom prst="ellipse">
            <a:avLst/>
          </a:prstGeom>
          <a:solidFill>
            <a:schemeClr val="accent2"/>
          </a:solidFill>
          <a:ln w="6350">
            <a:solidFill>
              <a:schemeClr val="accent2"/>
            </a:solidFill>
            <a:prstDash val="solid"/>
          </a:ln>
        </p:spPr>
      </p:sp>
      <p:sp>
        <p:nvSpPr>
          <p:cNvPr id="6" name="Text 3"/>
          <p:cNvSpPr txBox="1"/>
          <p:nvPr/>
        </p:nvSpPr>
        <p:spPr>
          <a:xfrm>
            <a:off x="5989320" y="1188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6583680" y="1143000"/>
            <a:ext cx="2194560" cy="292608"/>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Evaporator</a:t>
            </a:r>
            <a:endParaRPr lang="en-US" sz="1500" dirty="0"/>
          </a:p>
        </p:txBody>
      </p:sp>
      <p:sp>
        <p:nvSpPr>
          <p:cNvPr id="8" name="Text 5"/>
          <p:cNvSpPr txBox="1"/>
          <p:nvPr/>
        </p:nvSpPr>
        <p:spPr>
          <a:xfrm>
            <a:off x="6583680" y="1435608"/>
            <a:ext cx="2194560" cy="4572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absorbs heat from the load</a:t>
            </a:r>
            <a:endParaRPr lang="en-US" sz="1200" dirty="0"/>
          </a:p>
        </p:txBody>
      </p:sp>
      <p:sp>
        <p:nvSpPr>
          <p:cNvPr id="9" name="Number 2"/>
          <p:cNvSpPr/>
          <p:nvPr/>
        </p:nvSpPr>
        <p:spPr>
          <a:xfrm>
            <a:off x="5989320" y="2084832"/>
            <a:ext cx="457200" cy="457200"/>
          </a:xfrm>
          <a:prstGeom prst="ellipse">
            <a:avLst/>
          </a:prstGeom>
          <a:solidFill>
            <a:schemeClr val="accent2"/>
          </a:solidFill>
          <a:ln w="6350">
            <a:solidFill>
              <a:schemeClr val="accent2"/>
            </a:solidFill>
            <a:prstDash val="solid"/>
          </a:ln>
        </p:spPr>
      </p:sp>
      <p:sp>
        <p:nvSpPr>
          <p:cNvPr id="10" name="Text 7"/>
          <p:cNvSpPr txBox="1"/>
          <p:nvPr/>
        </p:nvSpPr>
        <p:spPr>
          <a:xfrm>
            <a:off x="5989320" y="20848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6583680" y="2039112"/>
            <a:ext cx="2194560" cy="292608"/>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Compressor</a:t>
            </a:r>
            <a:endParaRPr lang="en-US" sz="1500" dirty="0"/>
          </a:p>
        </p:txBody>
      </p:sp>
      <p:sp>
        <p:nvSpPr>
          <p:cNvPr id="12" name="Text 9"/>
          <p:cNvSpPr txBox="1"/>
          <p:nvPr/>
        </p:nvSpPr>
        <p:spPr>
          <a:xfrm>
            <a:off x="6583680" y="2331720"/>
            <a:ext cx="2194560" cy="4572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raises pressure and enthalpy</a:t>
            </a:r>
            <a:endParaRPr lang="en-US" sz="1200" dirty="0"/>
          </a:p>
        </p:txBody>
      </p:sp>
      <p:sp>
        <p:nvSpPr>
          <p:cNvPr id="13" name="Number 3"/>
          <p:cNvSpPr/>
          <p:nvPr/>
        </p:nvSpPr>
        <p:spPr>
          <a:xfrm>
            <a:off x="5989320" y="2980944"/>
            <a:ext cx="457200" cy="457200"/>
          </a:xfrm>
          <a:prstGeom prst="ellipse">
            <a:avLst/>
          </a:prstGeom>
          <a:solidFill>
            <a:schemeClr val="accent2"/>
          </a:solidFill>
          <a:ln w="6350">
            <a:solidFill>
              <a:schemeClr val="accent2"/>
            </a:solidFill>
            <a:prstDash val="solid"/>
          </a:ln>
        </p:spPr>
      </p:sp>
      <p:sp>
        <p:nvSpPr>
          <p:cNvPr id="14" name="Text 11"/>
          <p:cNvSpPr txBox="1"/>
          <p:nvPr/>
        </p:nvSpPr>
        <p:spPr>
          <a:xfrm>
            <a:off x="5989320" y="29809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6583680" y="2935224"/>
            <a:ext cx="2194560" cy="292608"/>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Condenser (2 passes)</a:t>
            </a:r>
            <a:endParaRPr lang="en-US" sz="1500" dirty="0"/>
          </a:p>
        </p:txBody>
      </p:sp>
      <p:sp>
        <p:nvSpPr>
          <p:cNvPr id="16" name="Text 13"/>
          <p:cNvSpPr txBox="1"/>
          <p:nvPr/>
        </p:nvSpPr>
        <p:spPr>
          <a:xfrm>
            <a:off x="6583680" y="3227832"/>
            <a:ext cx="2194560" cy="4572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rejects heat to surroundings</a:t>
            </a:r>
            <a:endParaRPr lang="en-US" sz="1200" dirty="0"/>
          </a:p>
        </p:txBody>
      </p:sp>
      <p:sp>
        <p:nvSpPr>
          <p:cNvPr id="17" name="Number 4"/>
          <p:cNvSpPr/>
          <p:nvPr/>
        </p:nvSpPr>
        <p:spPr>
          <a:xfrm>
            <a:off x="5989320" y="3877056"/>
            <a:ext cx="457200" cy="457200"/>
          </a:xfrm>
          <a:prstGeom prst="ellipse">
            <a:avLst/>
          </a:prstGeom>
          <a:solidFill>
            <a:schemeClr val="accent2"/>
          </a:solidFill>
          <a:ln w="6350">
            <a:solidFill>
              <a:schemeClr val="accent2"/>
            </a:solidFill>
            <a:prstDash val="solid"/>
          </a:ln>
        </p:spPr>
      </p:sp>
      <p:sp>
        <p:nvSpPr>
          <p:cNvPr id="18" name="Text 15"/>
          <p:cNvSpPr txBox="1"/>
          <p:nvPr/>
        </p:nvSpPr>
        <p:spPr>
          <a:xfrm>
            <a:off x="5989320" y="387705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19" name="Text 16"/>
          <p:cNvSpPr txBox="1"/>
          <p:nvPr/>
        </p:nvSpPr>
        <p:spPr>
          <a:xfrm>
            <a:off x="6583680" y="3831336"/>
            <a:ext cx="2194560" cy="292608"/>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p–h sensors</a:t>
            </a:r>
            <a:endParaRPr lang="en-US" sz="1500" dirty="0"/>
          </a:p>
        </p:txBody>
      </p:sp>
      <p:sp>
        <p:nvSpPr>
          <p:cNvPr id="20" name="Text 17"/>
          <p:cNvSpPr txBox="1"/>
          <p:nvPr/>
        </p:nvSpPr>
        <p:spPr>
          <a:xfrm>
            <a:off x="6583680" y="4123944"/>
            <a:ext cx="2194560" cy="4572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feed the P–H diagram for validation</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rPr>
              <a:t>Result: the cycle on the P–H diagram</a:t>
            </a:r>
            <a:endParaRPr lang="en-US" sz="2800" dirty="0"/>
          </a:p>
        </p:txBody>
      </p:sp>
      <p:sp>
        <p:nvSpPr>
          <p:cNvPr id="3" name="P-H card"/>
          <p:cNvSpPr/>
          <p:nvPr/>
        </p:nvSpPr>
        <p:spPr>
          <a:xfrm>
            <a:off x="457200" y="1051560"/>
            <a:ext cx="4480560" cy="3108960"/>
          </a:xfrm>
          <a:prstGeom prst="roundRect">
            <a:avLst>
              <a:gd name="adj" fmla="val 2353"/>
            </a:avLst>
          </a:prstGeom>
          <a:solidFill>
            <a:schemeClr val="bg2"/>
          </a:solidFill>
          <a:ln w="6350">
            <a:solidFill>
              <a:schemeClr val="bg2"/>
            </a:solidFill>
            <a:prstDash val="solid"/>
          </a:ln>
        </p:spPr>
      </p:sp>
      <p:pic>
        <p:nvPicPr>
          <p:cNvPr id="4" name="P-H diagram of R-1234yf" descr="P-H diagram of R-1234yf">    </p:cNvPr>
          <p:cNvPicPr>
            <a:picLocks noChangeAspect="1"/>
          </p:cNvPicPr>
          <p:nvPr/>
        </p:nvPicPr>
        <p:blipFill>
          <a:blip r:embed="rId1"/>
          <a:stretch>
            <a:fillRect/>
          </a:stretch>
        </p:blipFill>
        <p:spPr>
          <a:xfrm>
            <a:off x="721138" y="1115568"/>
            <a:ext cx="3952685" cy="2980944"/>
          </a:xfrm>
          <a:prstGeom prst="rect">
            <a:avLst/>
          </a:prstGeom>
        </p:spPr>
      </p:pic>
      <p:sp>
        <p:nvSpPr>
          <p:cNvPr id="5" name="Process card 1"/>
          <p:cNvSpPr/>
          <p:nvPr/>
        </p:nvSpPr>
        <p:spPr>
          <a:xfrm>
            <a:off x="5166360" y="1051560"/>
            <a:ext cx="3520440" cy="694944"/>
          </a:xfrm>
          <a:prstGeom prst="roundRect">
            <a:avLst>
              <a:gd name="adj" fmla="val 10526"/>
            </a:avLst>
          </a:prstGeom>
          <a:solidFill>
            <a:schemeClr val="bg2"/>
          </a:solidFill>
          <a:ln w="6350">
            <a:solidFill>
              <a:schemeClr val="bg2"/>
            </a:solidFill>
            <a:prstDash val="solid"/>
          </a:ln>
        </p:spPr>
      </p:sp>
      <p:sp>
        <p:nvSpPr>
          <p:cNvPr id="6" name="Text 3"/>
          <p:cNvSpPr txBox="1"/>
          <p:nvPr/>
        </p:nvSpPr>
        <p:spPr>
          <a:xfrm>
            <a:off x="5303520" y="1106424"/>
            <a:ext cx="3291840" cy="256032"/>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Evaporation</a:t>
            </a:r>
            <a:endParaRPr lang="en-US" sz="1400" dirty="0"/>
          </a:p>
        </p:txBody>
      </p:sp>
      <p:sp>
        <p:nvSpPr>
          <p:cNvPr id="7" name="Text 4"/>
          <p:cNvSpPr txBox="1"/>
          <p:nvPr/>
        </p:nvSpPr>
        <p:spPr>
          <a:xfrm>
            <a:off x="5303520" y="1380744"/>
            <a:ext cx="3291840" cy="329184"/>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Moves right to higher enthalpy: heat absorbed</a:t>
            </a:r>
            <a:endParaRPr lang="en-US" sz="1150" dirty="0"/>
          </a:p>
        </p:txBody>
      </p:sp>
      <p:sp>
        <p:nvSpPr>
          <p:cNvPr id="8" name="Process card 2"/>
          <p:cNvSpPr/>
          <p:nvPr/>
        </p:nvSpPr>
        <p:spPr>
          <a:xfrm>
            <a:off x="5166360" y="1837944"/>
            <a:ext cx="3520440" cy="694944"/>
          </a:xfrm>
          <a:prstGeom prst="roundRect">
            <a:avLst>
              <a:gd name="adj" fmla="val 10526"/>
            </a:avLst>
          </a:prstGeom>
          <a:solidFill>
            <a:schemeClr val="bg2"/>
          </a:solidFill>
          <a:ln w="6350">
            <a:solidFill>
              <a:schemeClr val="bg2"/>
            </a:solidFill>
            <a:prstDash val="solid"/>
          </a:ln>
        </p:spPr>
      </p:sp>
      <p:sp>
        <p:nvSpPr>
          <p:cNvPr id="9" name="Text 6"/>
          <p:cNvSpPr txBox="1"/>
          <p:nvPr/>
        </p:nvSpPr>
        <p:spPr>
          <a:xfrm>
            <a:off x="5303520" y="1892808"/>
            <a:ext cx="3291840" cy="256032"/>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Compression</a:t>
            </a:r>
            <a:endParaRPr lang="en-US" sz="1400" dirty="0"/>
          </a:p>
        </p:txBody>
      </p:sp>
      <p:sp>
        <p:nvSpPr>
          <p:cNvPr id="10" name="Text 7"/>
          <p:cNvSpPr txBox="1"/>
          <p:nvPr/>
        </p:nvSpPr>
        <p:spPr>
          <a:xfrm>
            <a:off x="5303520" y="2167128"/>
            <a:ext cx="3291840" cy="329184"/>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Pressure and enthalpy jump: work added</a:t>
            </a:r>
            <a:endParaRPr lang="en-US" sz="1150" dirty="0"/>
          </a:p>
        </p:txBody>
      </p:sp>
      <p:sp>
        <p:nvSpPr>
          <p:cNvPr id="11" name="Process card 3"/>
          <p:cNvSpPr/>
          <p:nvPr/>
        </p:nvSpPr>
        <p:spPr>
          <a:xfrm>
            <a:off x="5166360" y="2624328"/>
            <a:ext cx="3520440" cy="694944"/>
          </a:xfrm>
          <a:prstGeom prst="roundRect">
            <a:avLst>
              <a:gd name="adj" fmla="val 10526"/>
            </a:avLst>
          </a:prstGeom>
          <a:solidFill>
            <a:schemeClr val="bg2"/>
          </a:solidFill>
          <a:ln w="6350">
            <a:solidFill>
              <a:schemeClr val="bg2"/>
            </a:solidFill>
            <a:prstDash val="solid"/>
          </a:ln>
        </p:spPr>
      </p:sp>
      <p:sp>
        <p:nvSpPr>
          <p:cNvPr id="12" name="Text 9"/>
          <p:cNvSpPr txBox="1"/>
          <p:nvPr/>
        </p:nvSpPr>
        <p:spPr>
          <a:xfrm>
            <a:off x="5303520" y="2679192"/>
            <a:ext cx="3291840" cy="256032"/>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Condensation</a:t>
            </a:r>
            <a:endParaRPr lang="en-US" sz="1400" dirty="0"/>
          </a:p>
        </p:txBody>
      </p:sp>
      <p:sp>
        <p:nvSpPr>
          <p:cNvPr id="13" name="Text 10"/>
          <p:cNvSpPr txBox="1"/>
          <p:nvPr/>
        </p:nvSpPr>
        <p:spPr>
          <a:xfrm>
            <a:off x="5303520" y="2953512"/>
            <a:ext cx="3291840" cy="329184"/>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Enthalpy falls at near constant pressure: heat rejected</a:t>
            </a:r>
            <a:endParaRPr lang="en-US" sz="1150" dirty="0"/>
          </a:p>
        </p:txBody>
      </p:sp>
      <p:sp>
        <p:nvSpPr>
          <p:cNvPr id="14" name="Process card 4"/>
          <p:cNvSpPr/>
          <p:nvPr/>
        </p:nvSpPr>
        <p:spPr>
          <a:xfrm>
            <a:off x="5166360" y="3410712"/>
            <a:ext cx="3520440" cy="694944"/>
          </a:xfrm>
          <a:prstGeom prst="roundRect">
            <a:avLst>
              <a:gd name="adj" fmla="val 10526"/>
            </a:avLst>
          </a:prstGeom>
          <a:solidFill>
            <a:schemeClr val="bg2"/>
          </a:solidFill>
          <a:ln w="6350">
            <a:solidFill>
              <a:schemeClr val="bg2"/>
            </a:solidFill>
            <a:prstDash val="solid"/>
          </a:ln>
        </p:spPr>
      </p:sp>
      <p:sp>
        <p:nvSpPr>
          <p:cNvPr id="15" name="Text 12"/>
          <p:cNvSpPr txBox="1"/>
          <p:nvPr/>
        </p:nvSpPr>
        <p:spPr>
          <a:xfrm>
            <a:off x="5303520" y="3465576"/>
            <a:ext cx="3291840" cy="256032"/>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Pressure drop</a:t>
            </a:r>
            <a:endParaRPr lang="en-US" sz="1400" dirty="0"/>
          </a:p>
        </p:txBody>
      </p:sp>
      <p:sp>
        <p:nvSpPr>
          <p:cNvPr id="16" name="Text 13"/>
          <p:cNvSpPr txBox="1"/>
          <p:nvPr/>
        </p:nvSpPr>
        <p:spPr>
          <a:xfrm>
            <a:off x="5303520" y="3739896"/>
            <a:ext cx="3291840" cy="329184"/>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Flow restrictions act as throttling</a:t>
            </a:r>
            <a:endParaRPr lang="en-US" sz="1150" dirty="0"/>
          </a:p>
        </p:txBody>
      </p:sp>
      <p:sp>
        <p:nvSpPr>
          <p:cNvPr id="17" name="Result card"/>
          <p:cNvSpPr/>
          <p:nvPr/>
        </p:nvSpPr>
        <p:spPr>
          <a:xfrm>
            <a:off x="457200" y="4251960"/>
            <a:ext cx="8229600" cy="457200"/>
          </a:xfrm>
          <a:prstGeom prst="roundRect">
            <a:avLst>
              <a:gd name="adj" fmla="val 16000"/>
            </a:avLst>
          </a:prstGeom>
          <a:solidFill>
            <a:schemeClr val="accent4"/>
          </a:solidFill>
          <a:ln w="6350">
            <a:solidFill>
              <a:schemeClr val="accent4"/>
            </a:solidFill>
            <a:prstDash val="solid"/>
          </a:ln>
        </p:spPr>
      </p:sp>
      <p:sp>
        <p:nvSpPr>
          <p:cNvPr id="18" name="Text 15"/>
          <p:cNvSpPr txBox="1"/>
          <p:nvPr/>
        </p:nvSpPr>
        <p:spPr>
          <a:xfrm>
            <a:off x="640080" y="4251960"/>
            <a:ext cx="7863840" cy="457200"/>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All four processes appear and the loop stays stable. Results match refrigeration theory.</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2"/>
                </a:solidFill>
              </a:rPr>
              <a:t>Link to my project: the scroll compressor</a:t>
            </a:r>
            <a:endParaRPr lang="en-US" sz="2800" dirty="0"/>
          </a:p>
        </p:txBody>
      </p:sp>
      <p:sp>
        <p:nvSpPr>
          <p:cNvPr id="3" name="Scroll 3D card"/>
          <p:cNvSpPr/>
          <p:nvPr/>
        </p:nvSpPr>
        <p:spPr>
          <a:xfrm>
            <a:off x="457200" y="1051560"/>
            <a:ext cx="2468880" cy="2468880"/>
          </a:xfrm>
          <a:prstGeom prst="roundRect">
            <a:avLst>
              <a:gd name="adj" fmla="val 2963"/>
            </a:avLst>
          </a:prstGeom>
          <a:solidFill>
            <a:schemeClr val="bg2"/>
          </a:solidFill>
          <a:ln w="6350">
            <a:solidFill>
              <a:schemeClr val="bg2"/>
            </a:solidFill>
            <a:prstDash val="solid"/>
          </a:ln>
        </p:spPr>
      </p:sp>
      <p:pic>
        <p:nvPicPr>
          <p:cNvPr id="4" name="Scroll compressor 3D model" descr="Scroll compressor 3D model">    </p:cNvPr>
          <p:cNvPicPr>
            <a:picLocks noChangeAspect="1"/>
          </p:cNvPicPr>
          <p:nvPr/>
        </p:nvPicPr>
        <p:blipFill>
          <a:blip r:embed="rId1"/>
          <a:stretch>
            <a:fillRect/>
          </a:stretch>
        </p:blipFill>
        <p:spPr>
          <a:xfrm>
            <a:off x="548640" y="1279253"/>
            <a:ext cx="2286000" cy="1739174"/>
          </a:xfrm>
          <a:prstGeom prst="rect">
            <a:avLst/>
          </a:prstGeom>
        </p:spPr>
      </p:pic>
      <p:sp>
        <p:nvSpPr>
          <p:cNvPr id="5" name="Text 2"/>
          <p:cNvSpPr txBox="1"/>
          <p:nvPr/>
        </p:nvSpPr>
        <p:spPr>
          <a:xfrm>
            <a:off x="457200" y="3154680"/>
            <a:ext cx="2468880" cy="274320"/>
          </a:xfrm>
          <a:prstGeom prst="rect">
            <a:avLst/>
          </a:prstGeom>
          <a:noFill/>
          <a:ln/>
        </p:spPr>
        <p:txBody>
          <a:bodyPr wrap="square" lIns="0" tIns="0" rIns="0" bIns="0" rtlCol="0" anchor="ctr"/>
          <a:lstStyle/>
          <a:p>
            <a:pPr algn="ctr" indent="0" marL="0">
              <a:buNone/>
            </a:pPr>
            <a:r>
              <a:rPr lang="en-US" sz="1200" i="1" dirty="0">
                <a:solidFill>
                  <a:schemeClr val="accent3"/>
                </a:solidFill>
                <a:latin typeface="Calibri" pitchFamily="34" charset="0"/>
                <a:ea typeface="Calibri" pitchFamily="34" charset="-122"/>
                <a:cs typeface="Calibri" pitchFamily="34" charset="-120"/>
              </a:rPr>
              <a:t>Scroll model</a:t>
            </a:r>
            <a:endParaRPr lang="en-US" sz="1200" dirty="0"/>
          </a:p>
        </p:txBody>
      </p:sp>
      <p:sp>
        <p:nvSpPr>
          <p:cNvPr id="6" name="Scroll 2D card"/>
          <p:cNvSpPr/>
          <p:nvPr/>
        </p:nvSpPr>
        <p:spPr>
          <a:xfrm>
            <a:off x="3063240" y="1051560"/>
            <a:ext cx="2468880" cy="2468880"/>
          </a:xfrm>
          <a:prstGeom prst="roundRect">
            <a:avLst>
              <a:gd name="adj" fmla="val 2963"/>
            </a:avLst>
          </a:prstGeom>
          <a:solidFill>
            <a:schemeClr val="bg2"/>
          </a:solidFill>
          <a:ln w="6350">
            <a:solidFill>
              <a:schemeClr val="bg2"/>
            </a:solidFill>
            <a:prstDash val="solid"/>
          </a:ln>
        </p:spPr>
      </p:sp>
      <p:pic>
        <p:nvPicPr>
          <p:cNvPr id="7" name="Fixed and orbiting scroll" descr="Fixed and orbiting scroll">    </p:cNvPr>
          <p:cNvPicPr>
            <a:picLocks noChangeAspect="1"/>
          </p:cNvPicPr>
          <p:nvPr/>
        </p:nvPicPr>
        <p:blipFill>
          <a:blip r:embed="rId2"/>
          <a:stretch>
            <a:fillRect/>
          </a:stretch>
        </p:blipFill>
        <p:spPr>
          <a:xfrm>
            <a:off x="3250404" y="1188720"/>
            <a:ext cx="2094552" cy="1920240"/>
          </a:xfrm>
          <a:prstGeom prst="rect">
            <a:avLst/>
          </a:prstGeom>
        </p:spPr>
      </p:pic>
      <p:sp>
        <p:nvSpPr>
          <p:cNvPr id="8" name="Text 4"/>
          <p:cNvSpPr txBox="1"/>
          <p:nvPr/>
        </p:nvSpPr>
        <p:spPr>
          <a:xfrm>
            <a:off x="3063240" y="3154680"/>
            <a:ext cx="2468880" cy="274320"/>
          </a:xfrm>
          <a:prstGeom prst="rect">
            <a:avLst/>
          </a:prstGeom>
          <a:noFill/>
          <a:ln/>
        </p:spPr>
        <p:txBody>
          <a:bodyPr wrap="square" lIns="0" tIns="0" rIns="0" bIns="0" rtlCol="0" anchor="ctr"/>
          <a:lstStyle/>
          <a:p>
            <a:pPr algn="ctr" indent="0" marL="0">
              <a:buNone/>
            </a:pPr>
            <a:r>
              <a:rPr lang="en-US" sz="1200" i="1" dirty="0">
                <a:solidFill>
                  <a:schemeClr val="accent3"/>
                </a:solidFill>
                <a:latin typeface="Calibri" pitchFamily="34" charset="0"/>
                <a:ea typeface="Calibri" pitchFamily="34" charset="-122"/>
                <a:cs typeface="Calibri" pitchFamily="34" charset="-120"/>
              </a:rPr>
              <a:t>Fixed (grey) and orbiting (red) scroll</a:t>
            </a:r>
            <a:endParaRPr lang="en-US" sz="1200" dirty="0"/>
          </a:p>
        </p:txBody>
      </p:sp>
      <p:sp>
        <p:nvSpPr>
          <p:cNvPr id="9" name="Text 5"/>
          <p:cNvSpPr txBox="1"/>
          <p:nvPr/>
        </p:nvSpPr>
        <p:spPr>
          <a:xfrm>
            <a:off x="5760720" y="1051560"/>
            <a:ext cx="2926080" cy="27432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Same job</a:t>
            </a:r>
            <a:endParaRPr lang="en-US" sz="1500" dirty="0"/>
          </a:p>
        </p:txBody>
      </p:sp>
      <p:sp>
        <p:nvSpPr>
          <p:cNvPr id="10" name="Text 6"/>
          <p:cNvSpPr txBox="1"/>
          <p:nvPr/>
        </p:nvSpPr>
        <p:spPr>
          <a:xfrm>
            <a:off x="5760720" y="1325880"/>
            <a:ext cx="2926080" cy="53035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The compressor block in the cycle is a positive displacement machine, like a scroll.</a:t>
            </a:r>
            <a:endParaRPr lang="en-US" sz="1200" dirty="0"/>
          </a:p>
        </p:txBody>
      </p:sp>
      <p:sp>
        <p:nvSpPr>
          <p:cNvPr id="11" name="Text 7"/>
          <p:cNvSpPr txBox="1"/>
          <p:nvPr/>
        </p:nvSpPr>
        <p:spPr>
          <a:xfrm>
            <a:off x="5760720" y="1892808"/>
            <a:ext cx="2926080" cy="27432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How it works</a:t>
            </a:r>
            <a:endParaRPr lang="en-US" sz="1500" dirty="0"/>
          </a:p>
        </p:txBody>
      </p:sp>
      <p:sp>
        <p:nvSpPr>
          <p:cNvPr id="12" name="Text 8"/>
          <p:cNvSpPr txBox="1"/>
          <p:nvPr/>
        </p:nvSpPr>
        <p:spPr>
          <a:xfrm>
            <a:off x="5760720" y="2167128"/>
            <a:ext cx="2926080" cy="53035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The orbiting scroll moves inside the fixed scroll and squeezes trapped refrigerant.</a:t>
            </a:r>
            <a:endParaRPr lang="en-US" sz="1200" dirty="0"/>
          </a:p>
        </p:txBody>
      </p:sp>
      <p:sp>
        <p:nvSpPr>
          <p:cNvPr id="13" name="Text 9"/>
          <p:cNvSpPr txBox="1"/>
          <p:nvPr/>
        </p:nvSpPr>
        <p:spPr>
          <a:xfrm>
            <a:off x="5760720" y="2734056"/>
            <a:ext cx="2926080" cy="27432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In the loop</a:t>
            </a:r>
            <a:endParaRPr lang="en-US" sz="1500" dirty="0"/>
          </a:p>
        </p:txBody>
      </p:sp>
      <p:sp>
        <p:nvSpPr>
          <p:cNvPr id="14" name="Text 10"/>
          <p:cNvSpPr txBox="1"/>
          <p:nvPr/>
        </p:nvSpPr>
        <p:spPr>
          <a:xfrm>
            <a:off x="5760720" y="3008376"/>
            <a:ext cx="2926080" cy="530352"/>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It raises the refrigerant pressure and enthalpy, as seen in the P–H diagram.</a:t>
            </a:r>
            <a:endParaRPr lang="en-US" sz="1200" dirty="0"/>
          </a:p>
        </p:txBody>
      </p:sp>
      <p:sp>
        <p:nvSpPr>
          <p:cNvPr id="15" name="Chain card"/>
          <p:cNvSpPr/>
          <p:nvPr/>
        </p:nvSpPr>
        <p:spPr>
          <a:xfrm>
            <a:off x="457200" y="3749040"/>
            <a:ext cx="8229600" cy="914400"/>
          </a:xfrm>
          <a:prstGeom prst="roundRect">
            <a:avLst>
              <a:gd name="adj" fmla="val 8000"/>
            </a:avLst>
          </a:prstGeom>
          <a:solidFill>
            <a:schemeClr val="tx2"/>
          </a:solidFill>
          <a:ln w="6350">
            <a:solidFill>
              <a:schemeClr val="tx2"/>
            </a:solidFill>
            <a:prstDash val="solid"/>
          </a:ln>
        </p:spPr>
      </p:sp>
      <p:sp>
        <p:nvSpPr>
          <p:cNvPr id="16" name="Text 12"/>
          <p:cNvSpPr txBox="1"/>
          <p:nvPr/>
        </p:nvSpPr>
        <p:spPr>
          <a:xfrm>
            <a:off x="640080" y="3749040"/>
            <a:ext cx="7863840" cy="914400"/>
          </a:xfrm>
          <a:prstGeom prst="rect">
            <a:avLst/>
          </a:prstGeom>
          <a:noFill/>
          <a:ln/>
        </p:spPr>
        <p:txBody>
          <a:bodyPr wrap="square" lIns="0" tIns="0" rIns="0" bIns="0" rtlCol="0" anchor="ctr"/>
          <a:lstStyle/>
          <a:p>
            <a:pPr indent="0" marL="0">
              <a:buNone/>
            </a:pPr>
            <a:r>
              <a:rPr lang="en-US" sz="1500" b="1" dirty="0">
                <a:solidFill>
                  <a:schemeClr val="accent4"/>
                </a:solidFill>
                <a:latin typeface="Calibri" pitchFamily="34" charset="0"/>
                <a:ea typeface="Calibri" pitchFamily="34" charset="-122"/>
                <a:cs typeface="Calibri" pitchFamily="34" charset="-120"/>
              </a:rPr>
              <a:t>Full chain:  </a:t>
            </a:r>
            <a:pPr indent="0" marL="0">
              <a:buNone/>
            </a:pPr>
            <a:r>
              <a:rPr lang="en-US" sz="1500" dirty="0">
                <a:solidFill>
                  <a:schemeClr val="bg1"/>
                </a:solidFill>
                <a:latin typeface="Calibri" pitchFamily="34" charset="0"/>
                <a:ea typeface="Calibri" pitchFamily="34" charset="-122"/>
                <a:cs typeface="Calibri" pitchFamily="34" charset="-120"/>
              </a:rPr>
              <a:t>battery heat  →  cold plate  →  evaporator  →  scroll compressor  →  condenser</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7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000" b="1" dirty="0">
                <a:solidFill>
                  <a:schemeClr val="bg1"/>
                </a:solidFill>
              </a:rPr>
              <a:t>Three things to remember</a:t>
            </a:r>
            <a:endParaRPr lang="en-US" sz="3000" dirty="0"/>
          </a:p>
        </p:txBody>
      </p:sp>
      <p:sp>
        <p:nvSpPr>
          <p:cNvPr id="3" name="Key number 1"/>
          <p:cNvSpPr/>
          <p:nvPr/>
        </p:nvSpPr>
        <p:spPr>
          <a:xfrm>
            <a:off x="640080" y="1417320"/>
            <a:ext cx="640080" cy="640080"/>
          </a:xfrm>
          <a:prstGeom prst="ellipse">
            <a:avLst/>
          </a:prstGeom>
          <a:solidFill>
            <a:schemeClr val="accent2"/>
          </a:solidFill>
          <a:ln w="6350">
            <a:solidFill>
              <a:schemeClr val="accent2"/>
            </a:solidFill>
            <a:prstDash val="solid"/>
          </a:ln>
        </p:spPr>
      </p:sp>
      <p:sp>
        <p:nvSpPr>
          <p:cNvPr id="4" name="Text 2"/>
          <p:cNvSpPr txBox="1"/>
          <p:nvPr/>
        </p:nvSpPr>
        <p:spPr>
          <a:xfrm>
            <a:off x="640080" y="141732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1554480" y="1325880"/>
            <a:ext cx="6949440" cy="36576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Cold-plate conduction cools better</a:t>
            </a:r>
            <a:endParaRPr lang="en-US" sz="2000" dirty="0"/>
          </a:p>
        </p:txBody>
      </p:sp>
      <p:sp>
        <p:nvSpPr>
          <p:cNvPr id="6" name="Text 4"/>
          <p:cNvSpPr txBox="1"/>
          <p:nvPr/>
        </p:nvSpPr>
        <p:spPr>
          <a:xfrm>
            <a:off x="1554480" y="1719072"/>
            <a:ext cx="6949440" cy="45720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 293 K versus 315–320 K with convection alone, under the same 1 kW load.</a:t>
            </a:r>
            <a:endParaRPr lang="en-US" sz="1400" dirty="0"/>
          </a:p>
        </p:txBody>
      </p:sp>
      <p:sp>
        <p:nvSpPr>
          <p:cNvPr id="7" name="Key number 2"/>
          <p:cNvSpPr/>
          <p:nvPr/>
        </p:nvSpPr>
        <p:spPr>
          <a:xfrm>
            <a:off x="640080" y="2514600"/>
            <a:ext cx="640080" cy="640080"/>
          </a:xfrm>
          <a:prstGeom prst="ellipse">
            <a:avLst/>
          </a:prstGeom>
          <a:solidFill>
            <a:schemeClr val="accent2"/>
          </a:solidFill>
          <a:ln w="6350">
            <a:solidFill>
              <a:schemeClr val="accent2"/>
            </a:solidFill>
            <a:prstDash val="solid"/>
          </a:ln>
        </p:spPr>
      </p:sp>
      <p:sp>
        <p:nvSpPr>
          <p:cNvPr id="8" name="Text 6"/>
          <p:cNvSpPr txBox="1"/>
          <p:nvPr/>
        </p:nvSpPr>
        <p:spPr>
          <a:xfrm>
            <a:off x="640080" y="251460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2</a:t>
            </a:r>
            <a:endParaRPr lang="en-US" sz="2400" dirty="0"/>
          </a:p>
        </p:txBody>
      </p:sp>
      <p:sp>
        <p:nvSpPr>
          <p:cNvPr id="9" name="Text 7"/>
          <p:cNvSpPr txBox="1"/>
          <p:nvPr/>
        </p:nvSpPr>
        <p:spPr>
          <a:xfrm>
            <a:off x="1554480" y="2423160"/>
            <a:ext cx="6949440" cy="36576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The R-1234yf loop is validated</a:t>
            </a:r>
            <a:endParaRPr lang="en-US" sz="2000" dirty="0"/>
          </a:p>
        </p:txBody>
      </p:sp>
      <p:sp>
        <p:nvSpPr>
          <p:cNvPr id="10" name="Text 8"/>
          <p:cNvSpPr txBox="1"/>
          <p:nvPr/>
        </p:nvSpPr>
        <p:spPr>
          <a:xfrm>
            <a:off x="1554480" y="2816352"/>
            <a:ext cx="6949440" cy="45720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Evaporation, compression, condensation and throttling all appear on the P–H diagram.</a:t>
            </a:r>
            <a:endParaRPr lang="en-US" sz="1400" dirty="0"/>
          </a:p>
        </p:txBody>
      </p:sp>
      <p:sp>
        <p:nvSpPr>
          <p:cNvPr id="11" name="Key number 3"/>
          <p:cNvSpPr/>
          <p:nvPr/>
        </p:nvSpPr>
        <p:spPr>
          <a:xfrm>
            <a:off x="640080" y="3611880"/>
            <a:ext cx="640080" cy="640080"/>
          </a:xfrm>
          <a:prstGeom prst="ellipse">
            <a:avLst/>
          </a:prstGeom>
          <a:solidFill>
            <a:schemeClr val="accent2"/>
          </a:solidFill>
          <a:ln w="6350">
            <a:solidFill>
              <a:schemeClr val="accent2"/>
            </a:solidFill>
            <a:prstDash val="solid"/>
          </a:ln>
        </p:spPr>
      </p:sp>
      <p:sp>
        <p:nvSpPr>
          <p:cNvPr id="12" name="Text 10"/>
          <p:cNvSpPr txBox="1"/>
          <p:nvPr/>
        </p:nvSpPr>
        <p:spPr>
          <a:xfrm>
            <a:off x="640080" y="361188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3</a:t>
            </a:r>
            <a:endParaRPr lang="en-US" sz="2400" dirty="0"/>
          </a:p>
        </p:txBody>
      </p:sp>
      <p:sp>
        <p:nvSpPr>
          <p:cNvPr id="13" name="Text 11"/>
          <p:cNvSpPr txBox="1"/>
          <p:nvPr/>
        </p:nvSpPr>
        <p:spPr>
          <a:xfrm>
            <a:off x="1554480" y="3520440"/>
            <a:ext cx="6949440" cy="36576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The compressor is the heart</a:t>
            </a:r>
            <a:endParaRPr lang="en-US" sz="2000" dirty="0"/>
          </a:p>
        </p:txBody>
      </p:sp>
      <p:sp>
        <p:nvSpPr>
          <p:cNvPr id="14" name="Text 12"/>
          <p:cNvSpPr txBox="1"/>
          <p:nvPr/>
        </p:nvSpPr>
        <p:spPr>
          <a:xfrm>
            <a:off x="1554480" y="3913632"/>
            <a:ext cx="6949440" cy="45720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My scroll compressor design is the physical counterpart of the compressor block.</a:t>
            </a:r>
            <a:endParaRPr lang="en-US" sz="1400" dirty="0"/>
          </a:p>
        </p:txBody>
      </p:sp>
    </p:spTree>
  </p:cSld>
  <p:clrMapOvr>
    <a:masterClrMapping/>
  </p:clrMapOvr>
</p:sld>
</file>

<file path=ppt/theme/theme1.xml><?xml version="1.0" encoding="utf-8"?>
<a:theme xmlns:a="http://schemas.openxmlformats.org/drawingml/2006/main" name="NoonRay Thermal">
  <a:themeElements>
    <a:clrScheme name="NoonRay Thermal">
      <a:dk1>
        <a:srgbClr val="1F2933"/>
      </a:dk1>
      <a:lt1>
        <a:srgbClr val="FFFFFF"/>
      </a:lt1>
      <a:dk2>
        <a:srgbClr val="0B3C5D"/>
      </a:dk2>
      <a:lt2>
        <a:srgbClr val="E6F0F4"/>
      </a:lt2>
      <a:accent1>
        <a:srgbClr val="1C7293"/>
      </a:accent1>
      <a:accent2>
        <a:srgbClr val="E8743B"/>
      </a:accent2>
      <a:accent3>
        <a:srgbClr val="5B6770"/>
      </a:accent3>
      <a:accent4>
        <a:srgbClr val="F5B895"/>
      </a:accent4>
      <a:accent5>
        <a:srgbClr val="2F6F8F"/>
      </a:accent5>
      <a:accent6>
        <a:srgbClr val="A7BEAE"/>
      </a:accent6>
      <a:hlink>
        <a:srgbClr val="1C7293"/>
      </a:hlink>
      <a:folHlink>
        <a:srgbClr val="5B6770"/>
      </a:folHlink>
    </a:clrScheme>
    <a:fontScheme name="NoonRay Therm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Thermal Management &amp; Refrigeration Cycle Modelling</dc:title>
  <dc:subject>PptxGenJS Presentation</dc:subject>
  <dc:creator>Perugu Venkata Aditya</dc:creator>
  <cp:lastModifiedBy>Perugu Venkata Aditya</cp:lastModifiedBy>
  <cp:revision>1</cp:revision>
  <dcterms:created xsi:type="dcterms:W3CDTF">2026-10-25T05:29:50Z</dcterms:created>
  <dcterms:modified xsi:type="dcterms:W3CDTF">2026-10-25T05:29:50Z</dcterms:modified>
</cp:coreProperties>
</file>